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2" r:id="rId3"/>
  </p:sldMasterIdLst>
  <p:notesMasterIdLst>
    <p:notesMasterId r:id="rId5"/>
  </p:notesMasterIdLst>
  <p:handoutMasterIdLst>
    <p:handoutMasterId r:id="rId19"/>
  </p:handoutMasterIdLst>
  <p:sldIdLst>
    <p:sldId id="326" r:id="rId4"/>
    <p:sldId id="257" r:id="rId6"/>
    <p:sldId id="258" r:id="rId7"/>
    <p:sldId id="260" r:id="rId8"/>
    <p:sldId id="312" r:id="rId9"/>
    <p:sldId id="327" r:id="rId10"/>
    <p:sldId id="291" r:id="rId11"/>
    <p:sldId id="316" r:id="rId12"/>
    <p:sldId id="306" r:id="rId13"/>
    <p:sldId id="293" r:id="rId14"/>
    <p:sldId id="294" r:id="rId15"/>
    <p:sldId id="304" r:id="rId16"/>
    <p:sldId id="295" r:id="rId17"/>
    <p:sldId id="322" r:id="rId18"/>
  </p:sldIdLst>
  <p:sldSz cx="9144000" cy="5143500" type="screen16x9"/>
  <p:notesSz cx="6858000" cy="9144000"/>
  <p:embeddedFontLst>
    <p:embeddedFont>
      <p:font typeface="Calibri" panose="020F0502020204030204"/>
      <p:regular r:id="rId23"/>
      <p:bold r:id="rId24"/>
      <p:italic r:id="rId25"/>
      <p:boldItalic r:id="rId26"/>
    </p:embeddedFont>
    <p:embeddedFont>
      <p:font typeface="Impact" panose="020B0806030902050204" pitchFamily="34" charset="0"/>
      <p:regular r:id="rId27"/>
    </p:embeddedFont>
    <p:embeddedFont>
      <p:font typeface="MiSans Normal" panose="00000500000000000000" charset="-122"/>
      <p:regular r:id="rId28"/>
    </p:embeddedFont>
    <p:embeddedFont>
      <p:font typeface="MiSans Heavy" panose="00000A00000000000000" charset="-122"/>
      <p:bold r:id="rId29"/>
    </p:embeddedFont>
    <p:embeddedFont>
      <p:font typeface="MiSans Bold" panose="00000800000000000000" charset="-122"/>
      <p:bold r:id="rId30"/>
    </p:embeddedFont>
    <p:embeddedFont>
      <p:font typeface="汉仪劲楷简" panose="00020600040101010101" charset="-122"/>
      <p:regular r:id="rId31"/>
    </p:embeddedFont>
    <p:embeddedFont>
      <p:font typeface="微软雅黑" panose="020B0503020204020204" pitchFamily="34" charset="-122"/>
      <p:regular r:id="rId32"/>
    </p:embeddedFont>
    <p:embeddedFont>
      <p:font typeface="Century Gothic" panose="020B0502020202020204" pitchFamily="34" charset="0"/>
      <p:regular r:id="rId33"/>
      <p:bold r:id="rId34"/>
      <p:italic r:id="rId35"/>
      <p:boldItalic r:id="rId36"/>
    </p:embeddedFont>
    <p:embeddedFont>
      <p:font typeface="黑体" panose="02010609060101010101" charset="-122"/>
      <p:regular r:id="rId37"/>
    </p:embeddedFont>
  </p:embeddedFontLst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6" userDrawn="1">
          <p15:clr>
            <a:srgbClr val="A4A3A4"/>
          </p15:clr>
        </p15:guide>
        <p15:guide id="4" pos="2932" userDrawn="1">
          <p15:clr>
            <a:srgbClr val="A4A3A4"/>
          </p15:clr>
        </p15:guide>
        <p15:guide id="3" orient="horz" pos="4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00" autoAdjust="0"/>
    <p:restoredTop sz="94660"/>
  </p:normalViewPr>
  <p:slideViewPr>
    <p:cSldViewPr showGuides="1">
      <p:cViewPr>
        <p:scale>
          <a:sx n="100" d="100"/>
          <a:sy n="100" d="100"/>
        </p:scale>
        <p:origin x="1536" y="816"/>
      </p:cViewPr>
      <p:guideLst>
        <p:guide orient="horz" pos="1646"/>
        <p:guide pos="2932"/>
        <p:guide orient="horz" pos="47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8" Type="http://schemas.openxmlformats.org/officeDocument/2006/relationships/tags" Target="tags/tag136.xml"/><Relationship Id="rId37" Type="http://schemas.openxmlformats.org/officeDocument/2006/relationships/font" Target="fonts/font15.fntdata"/><Relationship Id="rId36" Type="http://schemas.openxmlformats.org/officeDocument/2006/relationships/font" Target="fonts/font14.fntdata"/><Relationship Id="rId35" Type="http://schemas.openxmlformats.org/officeDocument/2006/relationships/font" Target="fonts/font13.fntdata"/><Relationship Id="rId34" Type="http://schemas.openxmlformats.org/officeDocument/2006/relationships/font" Target="fonts/font12.fntdata"/><Relationship Id="rId33" Type="http://schemas.openxmlformats.org/officeDocument/2006/relationships/font" Target="fonts/font11.fntdata"/><Relationship Id="rId32" Type="http://schemas.openxmlformats.org/officeDocument/2006/relationships/font" Target="fonts/font10.fntdata"/><Relationship Id="rId31" Type="http://schemas.openxmlformats.org/officeDocument/2006/relationships/font" Target="fonts/font9.fntdata"/><Relationship Id="rId30" Type="http://schemas.openxmlformats.org/officeDocument/2006/relationships/font" Target="fonts/font8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2B909-2B53-4A70-BC70-AEF46C7ACF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9BF44-F5CE-455C-A9FE-73A15FC422D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9BF44-F5CE-455C-A9FE-73A15FC422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9BF44-F5CE-455C-A9FE-73A15FC422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7D6CD-A187-4476-AD7D-58C44BB482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7D6CD-A187-4476-AD7D-58C44BB482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9BF44-F5CE-455C-A9FE-73A15FC422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7D6CD-A187-4476-AD7D-58C44BB482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9BF44-F5CE-455C-A9FE-73A15FC422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7D6CD-A187-4476-AD7D-58C44BB482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7D6CD-A187-4476-AD7D-58C44BB482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9BF44-F5CE-455C-A9FE-73A15FC422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72508"/>
            <a:ext cx="2133600" cy="273844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86691" y="4772508"/>
            <a:ext cx="2895600" cy="273844"/>
          </a:xfrm>
          <a:prstGeom prst="rect">
            <a:avLst/>
          </a:prstGeom>
        </p:spPr>
        <p:txBody>
          <a:bodyPr vert="horz" lIns="76618" tIns="38309" rIns="76618" bIns="38309" rtlCol="0" anchor="ctr"/>
          <a:lstStyle>
            <a:lvl1pPr>
              <a:defRPr lang="en-US" altLang="zh-CN" smtClean="0">
                <a:solidFill>
                  <a:prstClr val="white">
                    <a:lumMod val="65000"/>
                  </a:prstClr>
                </a:solidFill>
                <a:latin typeface="Calibri" panose="020F0502020204030204"/>
              </a:defRPr>
            </a:lvl1pPr>
          </a:lstStyle>
          <a:p>
            <a:endParaRPr lang="zh-CN" altLang="en-US"/>
          </a:p>
        </p:txBody>
      </p:sp>
      <p:sp>
        <p:nvSpPr>
          <p:cNvPr id="22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948573" y="4763842"/>
            <a:ext cx="1388046" cy="282500"/>
          </a:xfrm>
          <a:prstGeom prst="rect">
            <a:avLst/>
          </a:prstGeom>
        </p:spPr>
        <p:txBody>
          <a:bodyPr vert="horz" lIns="102156" tIns="51076" rIns="102156" bIns="51076" rtlCol="0" anchor="ctr"/>
          <a:lstStyle>
            <a:lvl1pPr algn="r">
              <a:defRPr lang="zh-CN" altLang="en-US" smtClean="0"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D67E1CCE-4C69-481E-8A82-8C3A41A945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91015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452320" y="4787437"/>
            <a:ext cx="1224136" cy="304675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Impact" panose="020B0806030902050204" pitchFamily="34" charset="0"/>
              </a:defRPr>
            </a:lvl1pPr>
          </a:lstStyle>
          <a:p>
            <a:fld id="{FCC3A858-5ED0-4B4A-8756-97846365D73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21970" y="270000"/>
            <a:ext cx="8100000" cy="540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21970" y="4767263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565487" y="476726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10954" y="0"/>
            <a:ext cx="4504849" cy="51435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59" h="10862">
                <a:moveTo>
                  <a:pt x="0" y="0"/>
                </a:moveTo>
                <a:lnTo>
                  <a:pt x="7595" y="0"/>
                </a:lnTo>
                <a:lnTo>
                  <a:pt x="7612" y="22"/>
                </a:lnTo>
                <a:cubicBezTo>
                  <a:pt x="8770" y="1514"/>
                  <a:pt x="9459" y="3388"/>
                  <a:pt x="9459" y="5423"/>
                </a:cubicBezTo>
                <a:cubicBezTo>
                  <a:pt x="9459" y="7458"/>
                  <a:pt x="8770" y="9332"/>
                  <a:pt x="7612" y="10824"/>
                </a:cubicBezTo>
                <a:lnTo>
                  <a:pt x="7582" y="10862"/>
                </a:lnTo>
                <a:lnTo>
                  <a:pt x="0" y="1086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>
              <a:cs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3"/>
            </p:custDataLst>
          </p:nvPr>
        </p:nvSpPr>
        <p:spPr>
          <a:xfrm rot="16200000">
            <a:off x="-1037746" y="1026794"/>
            <a:ext cx="5143499" cy="3089911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58" h="6488">
                <a:moveTo>
                  <a:pt x="0" y="0"/>
                </a:moveTo>
                <a:lnTo>
                  <a:pt x="10858" y="0"/>
                </a:lnTo>
                <a:lnTo>
                  <a:pt x="10858" y="2789"/>
                </a:lnTo>
                <a:lnTo>
                  <a:pt x="10834" y="2850"/>
                </a:lnTo>
                <a:cubicBezTo>
                  <a:pt x="9962" y="4984"/>
                  <a:pt x="7865" y="6488"/>
                  <a:pt x="5417" y="6488"/>
                </a:cubicBezTo>
                <a:cubicBezTo>
                  <a:pt x="2982" y="6488"/>
                  <a:pt x="895" y="5001"/>
                  <a:pt x="15" y="2885"/>
                </a:cubicBezTo>
                <a:lnTo>
                  <a:pt x="0" y="284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152400" dir="2700000" algn="tl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 dirty="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 rot="16200000">
            <a:off x="-998434" y="1735010"/>
            <a:ext cx="3648263" cy="167330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660" h="3514">
                <a:moveTo>
                  <a:pt x="0" y="0"/>
                </a:moveTo>
                <a:lnTo>
                  <a:pt x="7660" y="0"/>
                </a:lnTo>
                <a:lnTo>
                  <a:pt x="7659" y="14"/>
                </a:lnTo>
                <a:cubicBezTo>
                  <a:pt x="7485" y="1975"/>
                  <a:pt x="5837" y="3514"/>
                  <a:pt x="3830" y="3514"/>
                </a:cubicBezTo>
                <a:cubicBezTo>
                  <a:pt x="1822" y="3514"/>
                  <a:pt x="173" y="1974"/>
                  <a:pt x="1" y="1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4953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>
              <a:solidFill>
                <a:schemeClr val="lt1"/>
              </a:solidFill>
              <a:cs typeface="MiSans Normal" panose="00000500000000000000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5"/>
            </p:custDataLst>
          </p:nvPr>
        </p:nvSpPr>
        <p:spPr>
          <a:xfrm rot="10800000">
            <a:off x="3866674" y="2891790"/>
            <a:ext cx="4037648" cy="8334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 sz="1350">
              <a:cs typeface="MiSans Normal" panose="00000500000000000000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8398193" y="2252186"/>
            <a:ext cx="161925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>
            <p:custDataLst>
              <p:tags r:id="rId7"/>
            </p:custDataLst>
          </p:nvPr>
        </p:nvCxnSpPr>
        <p:spPr>
          <a:xfrm>
            <a:off x="8479155" y="1450658"/>
            <a:ext cx="0" cy="446246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8479155" y="2607469"/>
            <a:ext cx="0" cy="477679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>
            <p:custDataLst>
              <p:tags r:id="rId9"/>
            </p:custDataLst>
          </p:nvPr>
        </p:nvSpPr>
        <p:spPr>
          <a:xfrm>
            <a:off x="7520464" y="3257550"/>
            <a:ext cx="403860" cy="40386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 lnSpcReduction="10000"/>
          </a:bodyPr>
          <a:lstStyle/>
          <a:p>
            <a:pPr algn="ctr"/>
            <a:endParaRPr lang="zh-CN" altLang="en-US" sz="1350">
              <a:cs typeface="MiSans Normal" panose="00000500000000000000" charset="-122"/>
            </a:endParaRPr>
          </a:p>
        </p:txBody>
      </p:sp>
      <p:sp>
        <p:nvSpPr>
          <p:cNvPr id="21" name="椭圆 20"/>
          <p:cNvSpPr/>
          <p:nvPr>
            <p:custDataLst>
              <p:tags r:id="rId10"/>
            </p:custDataLst>
          </p:nvPr>
        </p:nvSpPr>
        <p:spPr>
          <a:xfrm>
            <a:off x="7600474" y="3337560"/>
            <a:ext cx="243840" cy="2438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0000" lnSpcReduction="20000"/>
          </a:bodyPr>
          <a:lstStyle/>
          <a:p>
            <a:pPr algn="ctr"/>
            <a:endParaRPr lang="zh-CN" altLang="en-US" sz="1350">
              <a:cs typeface="MiSans Normal" panose="00000500000000000000" charset="-122"/>
            </a:endParaRPr>
          </a:p>
        </p:txBody>
      </p:sp>
      <p:sp>
        <p:nvSpPr>
          <p:cNvPr id="90" name="向下箭头"/>
          <p:cNvSpPr/>
          <p:nvPr>
            <p:custDataLst>
              <p:tags r:id="rId11"/>
            </p:custDataLst>
          </p:nvPr>
        </p:nvSpPr>
        <p:spPr>
          <a:xfrm>
            <a:off x="7678579" y="3407093"/>
            <a:ext cx="89059" cy="104775"/>
          </a:xfrm>
          <a:custGeom>
            <a:avLst/>
            <a:gdLst>
              <a:gd name="connsiteX0" fmla="*/ 222512 w 477622"/>
              <a:gd name="connsiteY0" fmla="*/ 0 h 559381"/>
              <a:gd name="connsiteX1" fmla="*/ 258512 w 477622"/>
              <a:gd name="connsiteY1" fmla="*/ 0 h 559381"/>
              <a:gd name="connsiteX2" fmla="*/ 258512 w 477622"/>
              <a:gd name="connsiteY2" fmla="*/ 488296 h 559381"/>
              <a:gd name="connsiteX3" fmla="*/ 452168 w 477622"/>
              <a:gd name="connsiteY3" fmla="*/ 294641 h 559381"/>
              <a:gd name="connsiteX4" fmla="*/ 477622 w 477622"/>
              <a:gd name="connsiteY4" fmla="*/ 320096 h 559381"/>
              <a:gd name="connsiteX5" fmla="*/ 264266 w 477622"/>
              <a:gd name="connsiteY5" fmla="*/ 533452 h 559381"/>
              <a:gd name="connsiteX6" fmla="*/ 264740 w 477622"/>
              <a:gd name="connsiteY6" fmla="*/ 533926 h 559381"/>
              <a:gd name="connsiteX7" fmla="*/ 239284 w 477622"/>
              <a:gd name="connsiteY7" fmla="*/ 559381 h 559381"/>
              <a:gd name="connsiteX8" fmla="*/ 238812 w 477622"/>
              <a:gd name="connsiteY8" fmla="*/ 558908 h 559381"/>
              <a:gd name="connsiteX9" fmla="*/ 238338 w 477622"/>
              <a:gd name="connsiteY9" fmla="*/ 559381 h 559381"/>
              <a:gd name="connsiteX10" fmla="*/ 212882 w 477622"/>
              <a:gd name="connsiteY10" fmla="*/ 533926 h 559381"/>
              <a:gd name="connsiteX11" fmla="*/ 213356 w 477622"/>
              <a:gd name="connsiteY11" fmla="*/ 533452 h 559381"/>
              <a:gd name="connsiteX12" fmla="*/ 0 w 477622"/>
              <a:gd name="connsiteY12" fmla="*/ 320096 h 559381"/>
              <a:gd name="connsiteX13" fmla="*/ 25456 w 477622"/>
              <a:gd name="connsiteY13" fmla="*/ 294641 h 559381"/>
              <a:gd name="connsiteX14" fmla="*/ 222512 w 477622"/>
              <a:gd name="connsiteY14" fmla="*/ 491698 h 559381"/>
              <a:gd name="connsiteX15" fmla="*/ 222512 w 477622"/>
              <a:gd name="connsiteY15" fmla="*/ 0 h 5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7622" h="559381">
                <a:moveTo>
                  <a:pt x="222512" y="0"/>
                </a:moveTo>
                <a:lnTo>
                  <a:pt x="258512" y="0"/>
                </a:lnTo>
                <a:lnTo>
                  <a:pt x="258512" y="488296"/>
                </a:lnTo>
                <a:lnTo>
                  <a:pt x="452168" y="294641"/>
                </a:lnTo>
                <a:lnTo>
                  <a:pt x="477622" y="320096"/>
                </a:lnTo>
                <a:lnTo>
                  <a:pt x="264266" y="533452"/>
                </a:lnTo>
                <a:lnTo>
                  <a:pt x="264740" y="533926"/>
                </a:lnTo>
                <a:lnTo>
                  <a:pt x="239284" y="559381"/>
                </a:lnTo>
                <a:lnTo>
                  <a:pt x="238812" y="558908"/>
                </a:lnTo>
                <a:lnTo>
                  <a:pt x="238338" y="559381"/>
                </a:lnTo>
                <a:lnTo>
                  <a:pt x="212882" y="533926"/>
                </a:lnTo>
                <a:lnTo>
                  <a:pt x="213356" y="533452"/>
                </a:lnTo>
                <a:lnTo>
                  <a:pt x="0" y="320096"/>
                </a:lnTo>
                <a:lnTo>
                  <a:pt x="25456" y="294641"/>
                </a:lnTo>
                <a:lnTo>
                  <a:pt x="222512" y="491698"/>
                </a:lnTo>
                <a:lnTo>
                  <a:pt x="222512" y="0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cs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6709410" y="4498181"/>
            <a:ext cx="2434590" cy="64531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12" h="1355">
                <a:moveTo>
                  <a:pt x="301" y="0"/>
                </a:moveTo>
                <a:lnTo>
                  <a:pt x="5112" y="0"/>
                </a:lnTo>
                <a:lnTo>
                  <a:pt x="5112" y="1355"/>
                </a:lnTo>
                <a:lnTo>
                  <a:pt x="0" y="1355"/>
                </a:lnTo>
                <a:lnTo>
                  <a:pt x="0" y="301"/>
                </a:lnTo>
                <a:cubicBezTo>
                  <a:pt x="0" y="135"/>
                  <a:pt x="135" y="0"/>
                  <a:pt x="30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cs typeface="MiSans Normal" panose="00000500000000000000" charset="-122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3"/>
            </p:custDataLst>
          </p:nvPr>
        </p:nvSpPr>
        <p:spPr>
          <a:xfrm>
            <a:off x="1704975" y="1425893"/>
            <a:ext cx="6310313" cy="1282065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54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459000" y="4735800"/>
            <a:ext cx="2025000" cy="237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6658200" y="4735800"/>
            <a:ext cx="2025000" cy="2376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8" name="署名占位符 10"/>
          <p:cNvSpPr>
            <a:spLocks noGrp="1"/>
          </p:cNvSpPr>
          <p:nvPr>
            <p:ph type="body" sz="quarter" idx="17" hasCustomPrompt="1"/>
            <p:custDataLst>
              <p:tags r:id="rId17"/>
            </p:custDataLst>
          </p:nvPr>
        </p:nvSpPr>
        <p:spPr>
          <a:xfrm>
            <a:off x="1704974" y="3206982"/>
            <a:ext cx="5692139" cy="49245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5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" y="0"/>
            <a:ext cx="9146382" cy="514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ctr" defTabSz="1022985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3540" indent="-383540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1215" indent="-3194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78890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90065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1875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13050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24860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36035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47845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1810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2985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34795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5970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57780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68955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80765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91940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 rot="5400000" flipV="1">
            <a:off x="-225742" y="226219"/>
            <a:ext cx="740569" cy="28860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01" h="606">
                <a:moveTo>
                  <a:pt x="0" y="0"/>
                </a:moveTo>
                <a:lnTo>
                  <a:pt x="2001" y="0"/>
                </a:lnTo>
                <a:lnTo>
                  <a:pt x="2001" y="256"/>
                </a:lnTo>
                <a:cubicBezTo>
                  <a:pt x="2001" y="450"/>
                  <a:pt x="1845" y="606"/>
                  <a:pt x="1651" y="606"/>
                </a:cubicBezTo>
                <a:lnTo>
                  <a:pt x="0" y="60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cs typeface="MiSans Normal" panose="00000500000000000000" charset="-122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21970" y="4767263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565487" y="4767263"/>
            <a:ext cx="2057400" cy="273844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21970" y="270000"/>
            <a:ext cx="8100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521970" y="976312"/>
            <a:ext cx="8100000" cy="365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KSO_TEMPLATE" hidden="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  <p:custDataLst>
      <p:tags r:id="rId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24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lt"/>
          <a:cs typeface="MiSans Normal" panose="00000500000000000000" charset="-122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4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41.xml"/><Relationship Id="rId1" Type="http://schemas.openxmlformats.org/officeDocument/2006/relationships/tags" Target="../tags/tag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5.png"/><Relationship Id="rId10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9" Type="http://schemas.openxmlformats.org/officeDocument/2006/relationships/notesSlide" Target="../notesSlides/notesSlide6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tags" Target="../tags/tag8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0" Type="http://schemas.openxmlformats.org/officeDocument/2006/relationships/notesSlide" Target="../notesSlides/notesSlide11.xml"/><Relationship Id="rId1" Type="http://schemas.openxmlformats.org/officeDocument/2006/relationships/tags" Target="../tags/tag9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3" Type="http://schemas.openxmlformats.org/officeDocument/2006/relationships/notesSlide" Target="../notesSlides/notesSlide12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127.xml"/><Relationship Id="rId20" Type="http://schemas.openxmlformats.org/officeDocument/2006/relationships/tags" Target="../tags/tag126.xml"/><Relationship Id="rId2" Type="http://schemas.openxmlformats.org/officeDocument/2006/relationships/tags" Target="../tags/tag108.xml"/><Relationship Id="rId19" Type="http://schemas.openxmlformats.org/officeDocument/2006/relationships/tags" Target="../tags/tag125.xml"/><Relationship Id="rId18" Type="http://schemas.openxmlformats.org/officeDocument/2006/relationships/tags" Target="../tags/tag124.xml"/><Relationship Id="rId17" Type="http://schemas.openxmlformats.org/officeDocument/2006/relationships/tags" Target="../tags/tag123.xml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tags" Target="../tags/tag118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tags" Target="../tags/tag10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hyperlink" Target="&#22522;&#20110;&#35282;&#33394;&#20998;&#24037;&#29702;&#35770;&#30340;&#29616;&#20195;&#20013;&#22411;&#36830;&#38145;&#37202;&#24215;&#31649;&#29702;&#32844;&#33021;&#20998;&#26512;.pptx" TargetMode="Externa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1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2755900" y="1347470"/>
            <a:ext cx="6386830" cy="1282065"/>
          </a:xfrm>
        </p:spPr>
        <p:txBody>
          <a:bodyPr>
            <a:noAutofit/>
          </a:bodyPr>
          <a:lstStyle/>
          <a:p>
            <a:pPr algn="l"/>
            <a:r>
              <a:rPr sz="3200">
                <a:latin typeface="MiSans Bold" panose="00000800000000000000" charset="-122"/>
                <a:ea typeface="汉仪劲楷简" panose="00020600040101010101" charset="-122"/>
                <a:sym typeface="MiSans Bold" panose="00000800000000000000" charset="-122"/>
              </a:rPr>
              <a:t>角色三：首席产品/营销官(CPO/CMO)——产品与营销策划</a:t>
            </a:r>
            <a:endParaRPr altLang="en-US" sz="3200" dirty="0">
              <a:latin typeface="MiSans Bold" panose="00000800000000000000" charset="-122"/>
              <a:ea typeface="汉仪劲楷简" panose="00020600040101010101" charset="-122"/>
              <a:sym typeface="MiSans Bold" panose="000008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1704974" y="3206982"/>
            <a:ext cx="5692139" cy="492450"/>
          </a:xfrm>
        </p:spPr>
        <p:txBody>
          <a:bodyPr/>
          <a:lstStyle/>
          <a:p>
            <a:r>
              <a:rPr lang="zh-CN" altLang="en-US" dirty="0"/>
              <a:t>汇报人：</a:t>
            </a:r>
            <a:r>
              <a:rPr lang="en-US" altLang="zh-CN" dirty="0"/>
              <a:t> </a:t>
            </a:r>
            <a:r>
              <a:rPr lang="zh-CN" altLang="en-US" dirty="0"/>
              <a:t>闫小杰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组合 71"/>
          <p:cNvGrpSpPr/>
          <p:nvPr/>
        </p:nvGrpSpPr>
        <p:grpSpPr>
          <a:xfrm rot="16200000">
            <a:off x="499660" y="1203818"/>
            <a:ext cx="2052635" cy="2628779"/>
            <a:chOff x="1289978" y="1257361"/>
            <a:chExt cx="2052635" cy="2628778"/>
          </a:xfrm>
        </p:grpSpPr>
        <p:sp>
          <p:nvSpPr>
            <p:cNvPr id="73" name="文本框 72"/>
            <p:cNvSpPr txBox="1"/>
            <p:nvPr/>
          </p:nvSpPr>
          <p:spPr>
            <a:xfrm rot="5400000">
              <a:off x="1849897" y="1970099"/>
              <a:ext cx="1877436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  <a:endParaRPr lang="zh-CN" altLang="en-US" sz="6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矩形 6"/>
            <p:cNvSpPr/>
            <p:nvPr/>
          </p:nvSpPr>
          <p:spPr>
            <a:xfrm>
              <a:off x="1289978" y="1257361"/>
              <a:ext cx="888555" cy="2628778"/>
            </a:xfrm>
            <a:custGeom>
              <a:avLst/>
              <a:gdLst>
                <a:gd name="connsiteX0" fmla="*/ 0 w 1584176"/>
                <a:gd name="connsiteY0" fmla="*/ 0 h 2448272"/>
                <a:gd name="connsiteX1" fmla="*/ 1584176 w 1584176"/>
                <a:gd name="connsiteY1" fmla="*/ 0 h 2448272"/>
                <a:gd name="connsiteX2" fmla="*/ 1584176 w 1584176"/>
                <a:gd name="connsiteY2" fmla="*/ 2448272 h 2448272"/>
                <a:gd name="connsiteX3" fmla="*/ 0 w 1584176"/>
                <a:gd name="connsiteY3" fmla="*/ 2448272 h 2448272"/>
                <a:gd name="connsiteX4" fmla="*/ 0 w 1584176"/>
                <a:gd name="connsiteY4" fmla="*/ 0 h 2448272"/>
                <a:gd name="connsiteX0-1" fmla="*/ 0 w 1585292"/>
                <a:gd name="connsiteY0-2" fmla="*/ 0 h 2448272"/>
                <a:gd name="connsiteX1-3" fmla="*/ 1584176 w 1585292"/>
                <a:gd name="connsiteY1-4" fmla="*/ 0 h 2448272"/>
                <a:gd name="connsiteX2-5" fmla="*/ 1585292 w 1585292"/>
                <a:gd name="connsiteY2-6" fmla="*/ 1220326 h 2448272"/>
                <a:gd name="connsiteX3-7" fmla="*/ 1584176 w 1585292"/>
                <a:gd name="connsiteY3-8" fmla="*/ 2448272 h 2448272"/>
                <a:gd name="connsiteX4-9" fmla="*/ 0 w 1585292"/>
                <a:gd name="connsiteY4-10" fmla="*/ 2448272 h 2448272"/>
                <a:gd name="connsiteX5" fmla="*/ 0 w 1585292"/>
                <a:gd name="connsiteY5" fmla="*/ 0 h 2448272"/>
                <a:gd name="connsiteX0-11" fmla="*/ 1585292 w 1676732"/>
                <a:gd name="connsiteY0-12" fmla="*/ 1220326 h 2448272"/>
                <a:gd name="connsiteX1-13" fmla="*/ 1584176 w 1676732"/>
                <a:gd name="connsiteY1-14" fmla="*/ 2448272 h 2448272"/>
                <a:gd name="connsiteX2-15" fmla="*/ 0 w 1676732"/>
                <a:gd name="connsiteY2-16" fmla="*/ 2448272 h 2448272"/>
                <a:gd name="connsiteX3-17" fmla="*/ 0 w 1676732"/>
                <a:gd name="connsiteY3-18" fmla="*/ 0 h 2448272"/>
                <a:gd name="connsiteX4-19" fmla="*/ 1584176 w 1676732"/>
                <a:gd name="connsiteY4-20" fmla="*/ 0 h 2448272"/>
                <a:gd name="connsiteX5-21" fmla="*/ 1676732 w 1676732"/>
                <a:gd name="connsiteY5-22" fmla="*/ 1311766 h 2448272"/>
                <a:gd name="connsiteX0-23" fmla="*/ 1585292 w 1585292"/>
                <a:gd name="connsiteY0-24" fmla="*/ 1220326 h 2448272"/>
                <a:gd name="connsiteX1-25" fmla="*/ 1584176 w 1585292"/>
                <a:gd name="connsiteY1-26" fmla="*/ 2448272 h 2448272"/>
                <a:gd name="connsiteX2-27" fmla="*/ 0 w 1585292"/>
                <a:gd name="connsiteY2-28" fmla="*/ 2448272 h 2448272"/>
                <a:gd name="connsiteX3-29" fmla="*/ 0 w 1585292"/>
                <a:gd name="connsiteY3-30" fmla="*/ 0 h 2448272"/>
                <a:gd name="connsiteX4-31" fmla="*/ 1584176 w 1585292"/>
                <a:gd name="connsiteY4-32" fmla="*/ 0 h 2448272"/>
                <a:gd name="connsiteX5-33" fmla="*/ 1585292 w 1585292"/>
                <a:gd name="connsiteY5-34" fmla="*/ 953626 h 2448272"/>
                <a:gd name="connsiteX0-35" fmla="*/ 1585292 w 1585292"/>
                <a:gd name="connsiteY0-36" fmla="*/ 1220326 h 2448272"/>
                <a:gd name="connsiteX1-37" fmla="*/ 1584176 w 1585292"/>
                <a:gd name="connsiteY1-38" fmla="*/ 2448272 h 2448272"/>
                <a:gd name="connsiteX2-39" fmla="*/ 0 w 1585292"/>
                <a:gd name="connsiteY2-40" fmla="*/ 2448272 h 2448272"/>
                <a:gd name="connsiteX3-41" fmla="*/ 0 w 1585292"/>
                <a:gd name="connsiteY3-42" fmla="*/ 0 h 2448272"/>
                <a:gd name="connsiteX4-43" fmla="*/ 1584176 w 1585292"/>
                <a:gd name="connsiteY4-44" fmla="*/ 0 h 2448272"/>
                <a:gd name="connsiteX5-45" fmla="*/ 1585292 w 1585292"/>
                <a:gd name="connsiteY5-46" fmla="*/ 664066 h 2448272"/>
                <a:gd name="connsiteX0-47" fmla="*/ 1577672 w 1585292"/>
                <a:gd name="connsiteY0-48" fmla="*/ 1967086 h 2448272"/>
                <a:gd name="connsiteX1-49" fmla="*/ 1584176 w 1585292"/>
                <a:gd name="connsiteY1-50" fmla="*/ 2448272 h 2448272"/>
                <a:gd name="connsiteX2-51" fmla="*/ 0 w 1585292"/>
                <a:gd name="connsiteY2-52" fmla="*/ 2448272 h 2448272"/>
                <a:gd name="connsiteX3-53" fmla="*/ 0 w 1585292"/>
                <a:gd name="connsiteY3-54" fmla="*/ 0 h 2448272"/>
                <a:gd name="connsiteX4-55" fmla="*/ 1584176 w 1585292"/>
                <a:gd name="connsiteY4-56" fmla="*/ 0 h 2448272"/>
                <a:gd name="connsiteX5-57" fmla="*/ 1585292 w 1585292"/>
                <a:gd name="connsiteY5-58" fmla="*/ 664066 h 2448272"/>
                <a:gd name="connsiteX0-59" fmla="*/ 1585292 w 1585292"/>
                <a:gd name="connsiteY0-60" fmla="*/ 1578466 h 2448272"/>
                <a:gd name="connsiteX1-61" fmla="*/ 1584176 w 1585292"/>
                <a:gd name="connsiteY1-62" fmla="*/ 2448272 h 2448272"/>
                <a:gd name="connsiteX2-63" fmla="*/ 0 w 1585292"/>
                <a:gd name="connsiteY2-64" fmla="*/ 2448272 h 2448272"/>
                <a:gd name="connsiteX3-65" fmla="*/ 0 w 1585292"/>
                <a:gd name="connsiteY3-66" fmla="*/ 0 h 2448272"/>
                <a:gd name="connsiteX4-67" fmla="*/ 1584176 w 1585292"/>
                <a:gd name="connsiteY4-68" fmla="*/ 0 h 2448272"/>
                <a:gd name="connsiteX5-69" fmla="*/ 1585292 w 1585292"/>
                <a:gd name="connsiteY5-70" fmla="*/ 664066 h 244827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1585292" h="2448272">
                  <a:moveTo>
                    <a:pt x="1585292" y="1578466"/>
                  </a:moveTo>
                  <a:lnTo>
                    <a:pt x="1584176" y="2448272"/>
                  </a:lnTo>
                  <a:lnTo>
                    <a:pt x="0" y="2448272"/>
                  </a:lnTo>
                  <a:lnTo>
                    <a:pt x="0" y="0"/>
                  </a:lnTo>
                  <a:lnTo>
                    <a:pt x="1584176" y="0"/>
                  </a:lnTo>
                  <a:cubicBezTo>
                    <a:pt x="1584548" y="406775"/>
                    <a:pt x="1585292" y="664066"/>
                    <a:pt x="1585292" y="664066"/>
                  </a:cubicBez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/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1316759" y="1440724"/>
              <a:ext cx="861774" cy="216674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zh-CN" sz="4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</a:t>
              </a:r>
              <a:endPara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6" name="矩形: 圆角 9"/>
          <p:cNvSpPr/>
          <p:nvPr>
            <p:custDataLst>
              <p:tags r:id="rId1"/>
            </p:custDataLst>
          </p:nvPr>
        </p:nvSpPr>
        <p:spPr>
          <a:xfrm>
            <a:off x="3499681" y="1051746"/>
            <a:ext cx="576257" cy="57625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/>
              <a:t>01</a:t>
            </a:r>
            <a:endParaRPr lang="zh-CN" altLang="en-US" sz="1800" dirty="0"/>
          </a:p>
        </p:txBody>
      </p:sp>
      <p:sp>
        <p:nvSpPr>
          <p:cNvPr id="77" name="矩形: 圆角 10"/>
          <p:cNvSpPr/>
          <p:nvPr>
            <p:custDataLst>
              <p:tags r:id="rId2"/>
            </p:custDataLst>
          </p:nvPr>
        </p:nvSpPr>
        <p:spPr>
          <a:xfrm>
            <a:off x="3499681" y="1904898"/>
            <a:ext cx="576257" cy="57625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/>
              <a:t>02</a:t>
            </a:r>
            <a:endParaRPr lang="zh-CN" altLang="en-US" sz="1800" dirty="0"/>
          </a:p>
        </p:txBody>
      </p:sp>
      <p:sp>
        <p:nvSpPr>
          <p:cNvPr id="78" name="矩形: 圆角 11"/>
          <p:cNvSpPr/>
          <p:nvPr>
            <p:custDataLst>
              <p:tags r:id="rId3"/>
            </p:custDataLst>
          </p:nvPr>
        </p:nvSpPr>
        <p:spPr>
          <a:xfrm>
            <a:off x="3499681" y="2758050"/>
            <a:ext cx="576257" cy="57625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/>
              <a:t>03</a:t>
            </a:r>
            <a:endParaRPr lang="zh-CN" altLang="en-US" sz="1800" dirty="0"/>
          </a:p>
        </p:txBody>
      </p:sp>
      <p:sp>
        <p:nvSpPr>
          <p:cNvPr id="79" name="矩形: 圆角 12"/>
          <p:cNvSpPr/>
          <p:nvPr>
            <p:custDataLst>
              <p:tags r:id="rId4"/>
            </p:custDataLst>
          </p:nvPr>
        </p:nvSpPr>
        <p:spPr>
          <a:xfrm>
            <a:off x="3499681" y="3611200"/>
            <a:ext cx="576257" cy="57625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/>
              <a:t>04</a:t>
            </a:r>
            <a:endParaRPr lang="zh-CN" altLang="en-US" sz="1800" dirty="0"/>
          </a:p>
        </p:txBody>
      </p:sp>
      <p:grpSp>
        <p:nvGrpSpPr>
          <p:cNvPr id="80" name="组合 79"/>
          <p:cNvGrpSpPr/>
          <p:nvPr>
            <p:custDataLst>
              <p:tags r:id="rId5"/>
            </p:custDataLst>
          </p:nvPr>
        </p:nvGrpSpPr>
        <p:grpSpPr>
          <a:xfrm>
            <a:off x="4248842" y="1052341"/>
            <a:ext cx="4754880" cy="664210"/>
            <a:chOff x="1082682" y="2686653"/>
            <a:chExt cx="4258797" cy="664210"/>
          </a:xfrm>
        </p:grpSpPr>
        <p:sp>
          <p:nvSpPr>
            <p:cNvPr id="81" name="TextBox 39"/>
            <p:cNvSpPr txBox="1"/>
            <p:nvPr>
              <p:custDataLst>
                <p:tags r:id="rId6"/>
              </p:custDataLst>
            </p:nvPr>
          </p:nvSpPr>
          <p:spPr>
            <a:xfrm>
              <a:off x="1082682" y="2686653"/>
              <a:ext cx="4258797" cy="4064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14000"/>
                </a:lnSpc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产品策划：以客户需求为中心的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“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产品包</a:t>
              </a:r>
              <a:r>
                <a:rPr lang="en-US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”</a:t>
              </a: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设计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2" name="TextBox 40"/>
            <p:cNvSpPr txBox="1"/>
            <p:nvPr>
              <p:custDataLst>
                <p:tags r:id="rId7"/>
              </p:custDataLst>
            </p:nvPr>
          </p:nvSpPr>
          <p:spPr>
            <a:xfrm>
              <a:off x="1082682" y="3090513"/>
              <a:ext cx="3799247" cy="260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4" name="TextBox 39"/>
          <p:cNvSpPr txBox="1"/>
          <p:nvPr>
            <p:custDataLst>
              <p:tags r:id="rId8"/>
            </p:custDataLst>
          </p:nvPr>
        </p:nvSpPr>
        <p:spPr>
          <a:xfrm>
            <a:off x="4249420" y="1905000"/>
            <a:ext cx="3382645" cy="58229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14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营销策划：整合传播与精准触达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7" name="TextBox 39"/>
          <p:cNvSpPr txBox="1"/>
          <p:nvPr>
            <p:custDataLst>
              <p:tags r:id="rId9"/>
            </p:custDataLst>
          </p:nvPr>
        </p:nvSpPr>
        <p:spPr>
          <a:xfrm>
            <a:off x="4248785" y="2757805"/>
            <a:ext cx="2926080" cy="406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数据驱动决策与跨部门协同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0" name="TextBox 39"/>
          <p:cNvSpPr txBox="1"/>
          <p:nvPr>
            <p:custDataLst>
              <p:tags r:id="rId10"/>
            </p:custDataLst>
          </p:nvPr>
        </p:nvSpPr>
        <p:spPr>
          <a:xfrm>
            <a:off x="4248785" y="3609975"/>
            <a:ext cx="2240280" cy="406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实施计划与预期成效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52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52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53" presetClass="entr" presetSubtype="52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bldLvl="0" animBg="1"/>
      <p:bldP spid="77" grpId="0" bldLvl="0" animBg="1"/>
      <p:bldP spid="78" grpId="0" bldLvl="0" animBg="1"/>
      <p:bldP spid="79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框 54"/>
          <p:cNvSpPr txBox="1"/>
          <p:nvPr/>
        </p:nvSpPr>
        <p:spPr>
          <a:xfrm>
            <a:off x="635" y="2139950"/>
            <a:ext cx="9143365" cy="14941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14000"/>
              </a:lnSpc>
            </a:pPr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产品策划：</a:t>
            </a:r>
            <a:endParaRPr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algn="ctr">
              <a:lnSpc>
                <a:spcPct val="114000"/>
              </a:lnSpc>
            </a:pPr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以客户需求为中心的</a:t>
            </a:r>
            <a:r>
              <a:rPr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“</a:t>
            </a:r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产品包</a:t>
            </a:r>
            <a:r>
              <a:rPr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”</a:t>
            </a:r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设计</a:t>
            </a:r>
            <a:endParaRPr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35" y="1220470"/>
            <a:ext cx="9126220" cy="862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14000"/>
              </a:lnSpc>
            </a:pPr>
            <a:r>
              <a:rPr lang="en-US" altLang="zh-CN" sz="4400" b="1" dirty="0" smtClean="0">
                <a:solidFill>
                  <a:schemeClr val="accent1"/>
                </a:solidFill>
                <a:latin typeface="Century Gothic" panose="020B0502020202020204" pitchFamily="34" charset="0"/>
                <a:ea typeface="+mj-ea"/>
              </a:rPr>
              <a:t>PART 01</a:t>
            </a:r>
            <a:endParaRPr lang="en-US" altLang="zh-CN" sz="4400" b="1" dirty="0">
              <a:solidFill>
                <a:schemeClr val="accent1"/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67" name="椭圆 13"/>
          <p:cNvSpPr/>
          <p:nvPr/>
        </p:nvSpPr>
        <p:spPr>
          <a:xfrm flipV="1">
            <a:off x="4276239" y="4005052"/>
            <a:ext cx="638628" cy="637737"/>
          </a:xfrm>
          <a:custGeom>
            <a:avLst/>
            <a:gdLst>
              <a:gd name="connsiteX0" fmla="*/ 303763 w 607427"/>
              <a:gd name="connsiteY0" fmla="*/ 152514 h 606580"/>
              <a:gd name="connsiteX1" fmla="*/ 187507 w 607427"/>
              <a:gd name="connsiteY1" fmla="*/ 268477 h 606580"/>
              <a:gd name="connsiteX2" fmla="*/ 257222 w 607427"/>
              <a:gd name="connsiteY2" fmla="*/ 268477 h 606580"/>
              <a:gd name="connsiteX3" fmla="*/ 257222 w 607427"/>
              <a:gd name="connsiteY3" fmla="*/ 454136 h 606580"/>
              <a:gd name="connsiteX4" fmla="*/ 350207 w 607427"/>
              <a:gd name="connsiteY4" fmla="*/ 454136 h 606580"/>
              <a:gd name="connsiteX5" fmla="*/ 350207 w 607427"/>
              <a:gd name="connsiteY5" fmla="*/ 268477 h 606580"/>
              <a:gd name="connsiteX6" fmla="*/ 419922 w 607427"/>
              <a:gd name="connsiteY6" fmla="*/ 268477 h 606580"/>
              <a:gd name="connsiteX7" fmla="*/ 303763 w 607427"/>
              <a:gd name="connsiteY7" fmla="*/ 113469 h 606580"/>
              <a:gd name="connsiteX8" fmla="*/ 331434 w 607427"/>
              <a:gd name="connsiteY8" fmla="*/ 124890 h 606580"/>
              <a:gd name="connsiteX9" fmla="*/ 447592 w 607427"/>
              <a:gd name="connsiteY9" fmla="*/ 240853 h 606580"/>
              <a:gd name="connsiteX10" fmla="*/ 456099 w 607427"/>
              <a:gd name="connsiteY10" fmla="*/ 283412 h 606580"/>
              <a:gd name="connsiteX11" fmla="*/ 419922 w 607427"/>
              <a:gd name="connsiteY11" fmla="*/ 307522 h 606580"/>
              <a:gd name="connsiteX12" fmla="*/ 389318 w 607427"/>
              <a:gd name="connsiteY12" fmla="*/ 307522 h 606580"/>
              <a:gd name="connsiteX13" fmla="*/ 389318 w 607427"/>
              <a:gd name="connsiteY13" fmla="*/ 454136 h 606580"/>
              <a:gd name="connsiteX14" fmla="*/ 350207 w 607427"/>
              <a:gd name="connsiteY14" fmla="*/ 493181 h 606580"/>
              <a:gd name="connsiteX15" fmla="*/ 257222 w 607427"/>
              <a:gd name="connsiteY15" fmla="*/ 493181 h 606580"/>
              <a:gd name="connsiteX16" fmla="*/ 218111 w 607427"/>
              <a:gd name="connsiteY16" fmla="*/ 454136 h 606580"/>
              <a:gd name="connsiteX17" fmla="*/ 218111 w 607427"/>
              <a:gd name="connsiteY17" fmla="*/ 307522 h 606580"/>
              <a:gd name="connsiteX18" fmla="*/ 187507 w 607427"/>
              <a:gd name="connsiteY18" fmla="*/ 307522 h 606580"/>
              <a:gd name="connsiteX19" fmla="*/ 151427 w 607427"/>
              <a:gd name="connsiteY19" fmla="*/ 283412 h 606580"/>
              <a:gd name="connsiteX20" fmla="*/ 159934 w 607427"/>
              <a:gd name="connsiteY20" fmla="*/ 240853 h 606580"/>
              <a:gd name="connsiteX21" fmla="*/ 276092 w 607427"/>
              <a:gd name="connsiteY21" fmla="*/ 124890 h 606580"/>
              <a:gd name="connsiteX22" fmla="*/ 303763 w 607427"/>
              <a:gd name="connsiteY22" fmla="*/ 113469 h 606580"/>
              <a:gd name="connsiteX23" fmla="*/ 303763 w 607427"/>
              <a:gd name="connsiteY23" fmla="*/ 39052 h 606580"/>
              <a:gd name="connsiteX24" fmla="*/ 39107 w 607427"/>
              <a:gd name="connsiteY24" fmla="*/ 303339 h 606580"/>
              <a:gd name="connsiteX25" fmla="*/ 303763 w 607427"/>
              <a:gd name="connsiteY25" fmla="*/ 567528 h 606580"/>
              <a:gd name="connsiteX26" fmla="*/ 568320 w 607427"/>
              <a:gd name="connsiteY26" fmla="*/ 303339 h 606580"/>
              <a:gd name="connsiteX27" fmla="*/ 303763 w 607427"/>
              <a:gd name="connsiteY27" fmla="*/ 39052 h 606580"/>
              <a:gd name="connsiteX28" fmla="*/ 303763 w 607427"/>
              <a:gd name="connsiteY28" fmla="*/ 0 h 606580"/>
              <a:gd name="connsiteX29" fmla="*/ 607427 w 607427"/>
              <a:gd name="connsiteY29" fmla="*/ 303339 h 606580"/>
              <a:gd name="connsiteX30" fmla="*/ 303763 w 607427"/>
              <a:gd name="connsiteY30" fmla="*/ 606580 h 606580"/>
              <a:gd name="connsiteX31" fmla="*/ 0 w 607427"/>
              <a:gd name="connsiteY31" fmla="*/ 303339 h 606580"/>
              <a:gd name="connsiteX32" fmla="*/ 303763 w 607427"/>
              <a:gd name="connsiteY32" fmla="*/ 0 h 60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07427" h="606580">
                <a:moveTo>
                  <a:pt x="303763" y="152514"/>
                </a:moveTo>
                <a:lnTo>
                  <a:pt x="187507" y="268477"/>
                </a:lnTo>
                <a:lnTo>
                  <a:pt x="257222" y="268477"/>
                </a:lnTo>
                <a:lnTo>
                  <a:pt x="257222" y="454136"/>
                </a:lnTo>
                <a:lnTo>
                  <a:pt x="350207" y="454136"/>
                </a:lnTo>
                <a:lnTo>
                  <a:pt x="350207" y="268477"/>
                </a:lnTo>
                <a:lnTo>
                  <a:pt x="419922" y="268477"/>
                </a:lnTo>
                <a:close/>
                <a:moveTo>
                  <a:pt x="303763" y="113469"/>
                </a:moveTo>
                <a:cubicBezTo>
                  <a:pt x="314127" y="113469"/>
                  <a:pt x="324101" y="117569"/>
                  <a:pt x="331434" y="124890"/>
                </a:cubicBezTo>
                <a:lnTo>
                  <a:pt x="447592" y="240853"/>
                </a:lnTo>
                <a:cubicBezTo>
                  <a:pt x="458739" y="252079"/>
                  <a:pt x="462063" y="268868"/>
                  <a:pt x="456099" y="283412"/>
                </a:cubicBezTo>
                <a:cubicBezTo>
                  <a:pt x="450037" y="298054"/>
                  <a:pt x="435761" y="307522"/>
                  <a:pt x="419922" y="307522"/>
                </a:cubicBezTo>
                <a:lnTo>
                  <a:pt x="389318" y="307522"/>
                </a:lnTo>
                <a:lnTo>
                  <a:pt x="389318" y="454136"/>
                </a:lnTo>
                <a:cubicBezTo>
                  <a:pt x="389318" y="475611"/>
                  <a:pt x="371816" y="493181"/>
                  <a:pt x="350207" y="493181"/>
                </a:cubicBezTo>
                <a:lnTo>
                  <a:pt x="257222" y="493181"/>
                </a:lnTo>
                <a:cubicBezTo>
                  <a:pt x="235613" y="493181"/>
                  <a:pt x="218111" y="475611"/>
                  <a:pt x="218111" y="454136"/>
                </a:cubicBezTo>
                <a:lnTo>
                  <a:pt x="218111" y="307522"/>
                </a:lnTo>
                <a:lnTo>
                  <a:pt x="187507" y="307522"/>
                </a:lnTo>
                <a:cubicBezTo>
                  <a:pt x="171765" y="307522"/>
                  <a:pt x="157490" y="298054"/>
                  <a:pt x="151427" y="283412"/>
                </a:cubicBezTo>
                <a:cubicBezTo>
                  <a:pt x="145365" y="268868"/>
                  <a:pt x="148690" y="252079"/>
                  <a:pt x="159934" y="240853"/>
                </a:cubicBezTo>
                <a:lnTo>
                  <a:pt x="276092" y="124890"/>
                </a:lnTo>
                <a:cubicBezTo>
                  <a:pt x="283426" y="117569"/>
                  <a:pt x="293399" y="113469"/>
                  <a:pt x="303763" y="113469"/>
                </a:cubicBezTo>
                <a:close/>
                <a:moveTo>
                  <a:pt x="303763" y="39052"/>
                </a:moveTo>
                <a:cubicBezTo>
                  <a:pt x="157796" y="39052"/>
                  <a:pt x="39107" y="157576"/>
                  <a:pt x="39107" y="303339"/>
                </a:cubicBezTo>
                <a:cubicBezTo>
                  <a:pt x="39107" y="449004"/>
                  <a:pt x="157796" y="567528"/>
                  <a:pt x="303763" y="567528"/>
                </a:cubicBezTo>
                <a:cubicBezTo>
                  <a:pt x="449631" y="567528"/>
                  <a:pt x="568320" y="449004"/>
                  <a:pt x="568320" y="303339"/>
                </a:cubicBezTo>
                <a:cubicBezTo>
                  <a:pt x="568320" y="157576"/>
                  <a:pt x="449631" y="39052"/>
                  <a:pt x="303763" y="39052"/>
                </a:cubicBezTo>
                <a:close/>
                <a:moveTo>
                  <a:pt x="303763" y="0"/>
                </a:moveTo>
                <a:cubicBezTo>
                  <a:pt x="471629" y="0"/>
                  <a:pt x="607427" y="135707"/>
                  <a:pt x="607427" y="303339"/>
                </a:cubicBezTo>
                <a:cubicBezTo>
                  <a:pt x="607427" y="470971"/>
                  <a:pt x="471629" y="606580"/>
                  <a:pt x="303763" y="606580"/>
                </a:cubicBezTo>
                <a:cubicBezTo>
                  <a:pt x="135798" y="606580"/>
                  <a:pt x="0" y="470971"/>
                  <a:pt x="0" y="303339"/>
                </a:cubicBezTo>
                <a:cubicBezTo>
                  <a:pt x="0" y="135609"/>
                  <a:pt x="135896" y="0"/>
                  <a:pt x="30376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/>
      <p:bldP spid="6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9502"/>
            <a:ext cx="467544" cy="3600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67544" y="340420"/>
            <a:ext cx="3738880" cy="33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产品策划：以客户需求为中心的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产品包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设计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3" name="Picture 6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44723" y="1097539"/>
            <a:ext cx="4312469" cy="4045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4" name="组合 33"/>
          <p:cNvGrpSpPr/>
          <p:nvPr>
            <p:custDataLst>
              <p:tags r:id="rId2"/>
            </p:custDataLst>
          </p:nvPr>
        </p:nvGrpSpPr>
        <p:grpSpPr>
          <a:xfrm>
            <a:off x="5138726" y="1818253"/>
            <a:ext cx="3172394" cy="651928"/>
            <a:chOff x="6908041" y="2138166"/>
            <a:chExt cx="4229858" cy="869237"/>
          </a:xfrm>
        </p:grpSpPr>
        <p:grpSp>
          <p:nvGrpSpPr>
            <p:cNvPr id="35" name="组合 34"/>
            <p:cNvGrpSpPr/>
            <p:nvPr/>
          </p:nvGrpSpPr>
          <p:grpSpPr>
            <a:xfrm>
              <a:off x="7448095" y="2138166"/>
              <a:ext cx="3689804" cy="869237"/>
              <a:chOff x="1136195" y="2091953"/>
              <a:chExt cx="3689804" cy="869237"/>
            </a:xfrm>
          </p:grpSpPr>
          <p:sp>
            <p:nvSpPr>
              <p:cNvPr id="37" name="文本框 19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136195" y="2091953"/>
                <a:ext cx="3037840" cy="4292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5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目标客户细分与痛点洞察</a:t>
                </a:r>
                <a:endParaRPr lang="zh-CN" altLang="en-US" sz="15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38" name="文本框 20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136195" y="2407193"/>
                <a:ext cx="3689804" cy="553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defRPr/>
                </a:pPr>
                <a:r>
                  <a:rPr lang="zh-CN" altLang="en-US" sz="105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您的内容打在这里，或者通过复制您的文本后，在此框中选择粘贴，并选择只保留文字。</a:t>
                </a:r>
                <a:endParaRPr lang="zh-CN" altLang="en-US" sz="10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36" name="椭圆 5"/>
            <p:cNvSpPr/>
            <p:nvPr>
              <p:custDataLst>
                <p:tags r:id="rId5"/>
              </p:custDataLst>
            </p:nvPr>
          </p:nvSpPr>
          <p:spPr>
            <a:xfrm>
              <a:off x="6908041" y="2374590"/>
              <a:ext cx="353350" cy="365612"/>
            </a:xfrm>
            <a:custGeom>
              <a:avLst/>
              <a:gdLst>
                <a:gd name="connsiteX0" fmla="*/ 94055 w 317452"/>
                <a:gd name="connsiteY0" fmla="*/ 135965 h 328468"/>
                <a:gd name="connsiteX1" fmla="*/ 94407 w 317452"/>
                <a:gd name="connsiteY1" fmla="*/ 136055 h 328468"/>
                <a:gd name="connsiteX2" fmla="*/ 104825 w 317452"/>
                <a:gd name="connsiteY2" fmla="*/ 158537 h 328468"/>
                <a:gd name="connsiteX3" fmla="*/ 106109 w 317452"/>
                <a:gd name="connsiteY3" fmla="*/ 161308 h 328468"/>
                <a:gd name="connsiteX4" fmla="*/ 98162 w 317452"/>
                <a:gd name="connsiteY4" fmla="*/ 160053 h 328468"/>
                <a:gd name="connsiteX5" fmla="*/ 96849 w 317452"/>
                <a:gd name="connsiteY5" fmla="*/ 160053 h 328468"/>
                <a:gd name="connsiteX6" fmla="*/ 92911 w 317452"/>
                <a:gd name="connsiteY6" fmla="*/ 137630 h 328468"/>
                <a:gd name="connsiteX7" fmla="*/ 93506 w 317452"/>
                <a:gd name="connsiteY7" fmla="*/ 136765 h 328468"/>
                <a:gd name="connsiteX8" fmla="*/ 39496 w 317452"/>
                <a:gd name="connsiteY8" fmla="*/ 115887 h 328468"/>
                <a:gd name="connsiteX9" fmla="*/ 51437 w 317452"/>
                <a:gd name="connsiteY9" fmla="*/ 165488 h 328468"/>
                <a:gd name="connsiteX10" fmla="*/ 48784 w 317452"/>
                <a:gd name="connsiteY10" fmla="*/ 166793 h 328468"/>
                <a:gd name="connsiteX11" fmla="*/ 47457 w 317452"/>
                <a:gd name="connsiteY11" fmla="*/ 170709 h 328468"/>
                <a:gd name="connsiteX12" fmla="*/ 48784 w 317452"/>
                <a:gd name="connsiteY12" fmla="*/ 173319 h 328468"/>
                <a:gd name="connsiteX13" fmla="*/ 52764 w 317452"/>
                <a:gd name="connsiteY13" fmla="*/ 175930 h 328468"/>
                <a:gd name="connsiteX14" fmla="*/ 55418 w 317452"/>
                <a:gd name="connsiteY14" fmla="*/ 174625 h 328468"/>
                <a:gd name="connsiteX15" fmla="*/ 87263 w 317452"/>
                <a:gd name="connsiteY15" fmla="*/ 216393 h 328468"/>
                <a:gd name="connsiteX16" fmla="*/ 55418 w 317452"/>
                <a:gd name="connsiteY16" fmla="*/ 230752 h 328468"/>
                <a:gd name="connsiteX17" fmla="*/ 38169 w 317452"/>
                <a:gd name="connsiteY17" fmla="*/ 224225 h 328468"/>
                <a:gd name="connsiteX18" fmla="*/ 1017 w 317452"/>
                <a:gd name="connsiteY18" fmla="*/ 147214 h 328468"/>
                <a:gd name="connsiteX19" fmla="*/ 7651 w 317452"/>
                <a:gd name="connsiteY19" fmla="*/ 128940 h 328468"/>
                <a:gd name="connsiteX20" fmla="*/ 39496 w 317452"/>
                <a:gd name="connsiteY20" fmla="*/ 115887 h 328468"/>
                <a:gd name="connsiteX21" fmla="*/ 63900 w 317452"/>
                <a:gd name="connsiteY21" fmla="*/ 106627 h 328468"/>
                <a:gd name="connsiteX22" fmla="*/ 71807 w 317452"/>
                <a:gd name="connsiteY22" fmla="*/ 114982 h 328468"/>
                <a:gd name="connsiteX23" fmla="*/ 81033 w 317452"/>
                <a:gd name="connsiteY23" fmla="*/ 133331 h 328468"/>
                <a:gd name="connsiteX24" fmla="*/ 87623 w 317452"/>
                <a:gd name="connsiteY24" fmla="*/ 130710 h 328468"/>
                <a:gd name="connsiteX25" fmla="*/ 95803 w 317452"/>
                <a:gd name="connsiteY25" fmla="*/ 133422 h 328468"/>
                <a:gd name="connsiteX26" fmla="*/ 94055 w 317452"/>
                <a:gd name="connsiteY26" fmla="*/ 135965 h 328468"/>
                <a:gd name="connsiteX27" fmla="*/ 89115 w 317452"/>
                <a:gd name="connsiteY27" fmla="*/ 134702 h 328468"/>
                <a:gd name="connsiteX28" fmla="*/ 83823 w 317452"/>
                <a:gd name="connsiteY28" fmla="*/ 137407 h 328468"/>
                <a:gd name="connsiteX29" fmla="*/ 82500 w 317452"/>
                <a:gd name="connsiteY29" fmla="*/ 137407 h 328468"/>
                <a:gd name="connsiteX30" fmla="*/ 97053 w 317452"/>
                <a:gd name="connsiteY30" fmla="*/ 169863 h 328468"/>
                <a:gd name="connsiteX31" fmla="*/ 98375 w 317452"/>
                <a:gd name="connsiteY31" fmla="*/ 169863 h 328468"/>
                <a:gd name="connsiteX32" fmla="*/ 103667 w 317452"/>
                <a:gd name="connsiteY32" fmla="*/ 167158 h 328468"/>
                <a:gd name="connsiteX33" fmla="*/ 106313 w 317452"/>
                <a:gd name="connsiteY33" fmla="*/ 161749 h 328468"/>
                <a:gd name="connsiteX34" fmla="*/ 106109 w 317452"/>
                <a:gd name="connsiteY34" fmla="*/ 161308 h 328468"/>
                <a:gd name="connsiteX35" fmla="*/ 109648 w 317452"/>
                <a:gd name="connsiteY35" fmla="*/ 161866 h 328468"/>
                <a:gd name="connsiteX36" fmla="*/ 110272 w 317452"/>
                <a:gd name="connsiteY36" fmla="*/ 161402 h 328468"/>
                <a:gd name="connsiteX37" fmla="*/ 110522 w 317452"/>
                <a:gd name="connsiteY37" fmla="*/ 164622 h 328468"/>
                <a:gd name="connsiteX38" fmla="*/ 106074 w 317452"/>
                <a:gd name="connsiteY38" fmla="*/ 170028 h 328468"/>
                <a:gd name="connsiteX39" fmla="*/ 99484 w 317452"/>
                <a:gd name="connsiteY39" fmla="*/ 172650 h 328468"/>
                <a:gd name="connsiteX40" fmla="*/ 107391 w 317452"/>
                <a:gd name="connsiteY40" fmla="*/ 192309 h 328468"/>
                <a:gd name="connsiteX41" fmla="*/ 100802 w 317452"/>
                <a:gd name="connsiteY41" fmla="*/ 211968 h 328468"/>
                <a:gd name="connsiteX42" fmla="*/ 91576 w 317452"/>
                <a:gd name="connsiteY42" fmla="*/ 215900 h 328468"/>
                <a:gd name="connsiteX43" fmla="*/ 59946 w 317452"/>
                <a:gd name="connsiteY43" fmla="*/ 172650 h 328468"/>
                <a:gd name="connsiteX44" fmla="*/ 62582 w 317452"/>
                <a:gd name="connsiteY44" fmla="*/ 171339 h 328468"/>
                <a:gd name="connsiteX45" fmla="*/ 63900 w 317452"/>
                <a:gd name="connsiteY45" fmla="*/ 166097 h 328468"/>
                <a:gd name="connsiteX46" fmla="*/ 62582 w 317452"/>
                <a:gd name="connsiteY46" fmla="*/ 163475 h 328468"/>
                <a:gd name="connsiteX47" fmla="*/ 58628 w 317452"/>
                <a:gd name="connsiteY47" fmla="*/ 162165 h 328468"/>
                <a:gd name="connsiteX48" fmla="*/ 54674 w 317452"/>
                <a:gd name="connsiteY48" fmla="*/ 163475 h 328468"/>
                <a:gd name="connsiteX49" fmla="*/ 42813 w 317452"/>
                <a:gd name="connsiteY49" fmla="*/ 111051 h 328468"/>
                <a:gd name="connsiteX50" fmla="*/ 52038 w 317452"/>
                <a:gd name="connsiteY50" fmla="*/ 107119 h 328468"/>
                <a:gd name="connsiteX51" fmla="*/ 63900 w 317452"/>
                <a:gd name="connsiteY51" fmla="*/ 106627 h 328468"/>
                <a:gd name="connsiteX52" fmla="*/ 221560 w 317452"/>
                <a:gd name="connsiteY52" fmla="*/ 67725 h 328468"/>
                <a:gd name="connsiteX53" fmla="*/ 239938 w 317452"/>
                <a:gd name="connsiteY53" fmla="*/ 67725 h 328468"/>
                <a:gd name="connsiteX54" fmla="*/ 249127 w 317452"/>
                <a:gd name="connsiteY54" fmla="*/ 90147 h 328468"/>
                <a:gd name="connsiteX55" fmla="*/ 249127 w 317452"/>
                <a:gd name="connsiteY55" fmla="*/ 99380 h 328468"/>
                <a:gd name="connsiteX56" fmla="*/ 259629 w 317452"/>
                <a:gd name="connsiteY56" fmla="*/ 162691 h 328468"/>
                <a:gd name="connsiteX57" fmla="*/ 300324 w 317452"/>
                <a:gd name="connsiteY57" fmla="*/ 193027 h 328468"/>
                <a:gd name="connsiteX58" fmla="*/ 304262 w 317452"/>
                <a:gd name="connsiteY58" fmla="*/ 215450 h 328468"/>
                <a:gd name="connsiteX59" fmla="*/ 283258 w 317452"/>
                <a:gd name="connsiteY59" fmla="*/ 219407 h 328468"/>
                <a:gd name="connsiteX60" fmla="*/ 281946 w 317452"/>
                <a:gd name="connsiteY60" fmla="*/ 218088 h 328468"/>
                <a:gd name="connsiteX61" fmla="*/ 236000 w 317452"/>
                <a:gd name="connsiteY61" fmla="*/ 185113 h 328468"/>
                <a:gd name="connsiteX62" fmla="*/ 229436 w 317452"/>
                <a:gd name="connsiteY62" fmla="*/ 174562 h 328468"/>
                <a:gd name="connsiteX63" fmla="*/ 224185 w 317452"/>
                <a:gd name="connsiteY63" fmla="*/ 145544 h 328468"/>
                <a:gd name="connsiteX64" fmla="*/ 196617 w 317452"/>
                <a:gd name="connsiteY64" fmla="*/ 194346 h 328468"/>
                <a:gd name="connsiteX65" fmla="*/ 229436 w 317452"/>
                <a:gd name="connsiteY65" fmla="*/ 243148 h 328468"/>
                <a:gd name="connsiteX66" fmla="*/ 230749 w 317452"/>
                <a:gd name="connsiteY66" fmla="*/ 265571 h 328468"/>
                <a:gd name="connsiteX67" fmla="*/ 195305 w 317452"/>
                <a:gd name="connsiteY67" fmla="*/ 318329 h 328468"/>
                <a:gd name="connsiteX68" fmla="*/ 169050 w 317452"/>
                <a:gd name="connsiteY68" fmla="*/ 323605 h 328468"/>
                <a:gd name="connsiteX69" fmla="*/ 167737 w 317452"/>
                <a:gd name="connsiteY69" fmla="*/ 323605 h 328468"/>
                <a:gd name="connsiteX70" fmla="*/ 162486 w 317452"/>
                <a:gd name="connsiteY70" fmla="*/ 297226 h 328468"/>
                <a:gd name="connsiteX71" fmla="*/ 191366 w 317452"/>
                <a:gd name="connsiteY71" fmla="*/ 255019 h 328468"/>
                <a:gd name="connsiteX72" fmla="*/ 167737 w 317452"/>
                <a:gd name="connsiteY72" fmla="*/ 220726 h 328468"/>
                <a:gd name="connsiteX73" fmla="*/ 70594 w 317452"/>
                <a:gd name="connsiteY73" fmla="*/ 322286 h 328468"/>
                <a:gd name="connsiteX74" fmla="*/ 46965 w 317452"/>
                <a:gd name="connsiteY74" fmla="*/ 326243 h 328468"/>
                <a:gd name="connsiteX75" fmla="*/ 44339 w 317452"/>
                <a:gd name="connsiteY75" fmla="*/ 322286 h 328468"/>
                <a:gd name="connsiteX76" fmla="*/ 43027 w 317452"/>
                <a:gd name="connsiteY76" fmla="*/ 295907 h 328468"/>
                <a:gd name="connsiteX77" fmla="*/ 144108 w 317452"/>
                <a:gd name="connsiteY77" fmla="*/ 189070 h 328468"/>
                <a:gd name="connsiteX78" fmla="*/ 148046 w 317452"/>
                <a:gd name="connsiteY78" fmla="*/ 177200 h 328468"/>
                <a:gd name="connsiteX79" fmla="*/ 190054 w 317452"/>
                <a:gd name="connsiteY79" fmla="*/ 103337 h 328468"/>
                <a:gd name="connsiteX80" fmla="*/ 151984 w 317452"/>
                <a:gd name="connsiteY80" fmla="*/ 107294 h 328468"/>
                <a:gd name="connsiteX81" fmla="*/ 119166 w 317452"/>
                <a:gd name="connsiteY81" fmla="*/ 154777 h 328468"/>
                <a:gd name="connsiteX82" fmla="*/ 110272 w 317452"/>
                <a:gd name="connsiteY82" fmla="*/ 161402 h 328468"/>
                <a:gd name="connsiteX83" fmla="*/ 110027 w 317452"/>
                <a:gd name="connsiteY83" fmla="*/ 158233 h 328468"/>
                <a:gd name="connsiteX84" fmla="*/ 99484 w 317452"/>
                <a:gd name="connsiteY84" fmla="*/ 134642 h 328468"/>
                <a:gd name="connsiteX85" fmla="*/ 95803 w 317452"/>
                <a:gd name="connsiteY85" fmla="*/ 133422 h 328468"/>
                <a:gd name="connsiteX86" fmla="*/ 97670 w 317452"/>
                <a:gd name="connsiteY86" fmla="*/ 130706 h 328468"/>
                <a:gd name="connsiteX87" fmla="*/ 130980 w 317452"/>
                <a:gd name="connsiteY87" fmla="*/ 82234 h 328468"/>
                <a:gd name="connsiteX88" fmla="*/ 141482 w 317452"/>
                <a:gd name="connsiteY88" fmla="*/ 75639 h 328468"/>
                <a:gd name="connsiteX89" fmla="*/ 221560 w 317452"/>
                <a:gd name="connsiteY89" fmla="*/ 67725 h 328468"/>
                <a:gd name="connsiteX90" fmla="*/ 276970 w 317452"/>
                <a:gd name="connsiteY90" fmla="*/ 0 h 328468"/>
                <a:gd name="connsiteX91" fmla="*/ 317452 w 317452"/>
                <a:gd name="connsiteY91" fmla="*/ 39688 h 328468"/>
                <a:gd name="connsiteX92" fmla="*/ 276970 w 317452"/>
                <a:gd name="connsiteY92" fmla="*/ 79376 h 328468"/>
                <a:gd name="connsiteX93" fmla="*/ 236488 w 317452"/>
                <a:gd name="connsiteY93" fmla="*/ 39688 h 328468"/>
                <a:gd name="connsiteX94" fmla="*/ 276970 w 317452"/>
                <a:gd name="connsiteY94" fmla="*/ 0 h 328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317452" h="328468">
                  <a:moveTo>
                    <a:pt x="94055" y="135965"/>
                  </a:moveTo>
                  <a:lnTo>
                    <a:pt x="94407" y="136055"/>
                  </a:lnTo>
                  <a:cubicBezTo>
                    <a:pt x="100360" y="148902"/>
                    <a:pt x="103337" y="155325"/>
                    <a:pt x="104825" y="158537"/>
                  </a:cubicBezTo>
                  <a:lnTo>
                    <a:pt x="106109" y="161308"/>
                  </a:lnTo>
                  <a:lnTo>
                    <a:pt x="98162" y="160053"/>
                  </a:lnTo>
                  <a:cubicBezTo>
                    <a:pt x="98162" y="160053"/>
                    <a:pt x="96849" y="160053"/>
                    <a:pt x="96849" y="160053"/>
                  </a:cubicBezTo>
                  <a:cubicBezTo>
                    <a:pt x="90285" y="154777"/>
                    <a:pt x="87660" y="144225"/>
                    <a:pt x="92911" y="137630"/>
                  </a:cubicBezTo>
                  <a:cubicBezTo>
                    <a:pt x="92911" y="137630"/>
                    <a:pt x="92911" y="137630"/>
                    <a:pt x="93506" y="136765"/>
                  </a:cubicBezTo>
                  <a:close/>
                  <a:moveTo>
                    <a:pt x="39496" y="115887"/>
                  </a:moveTo>
                  <a:cubicBezTo>
                    <a:pt x="39496" y="115887"/>
                    <a:pt x="39496" y="115887"/>
                    <a:pt x="51437" y="165488"/>
                  </a:cubicBezTo>
                  <a:cubicBezTo>
                    <a:pt x="51437" y="165488"/>
                    <a:pt x="51437" y="165488"/>
                    <a:pt x="48784" y="166793"/>
                  </a:cubicBezTo>
                  <a:cubicBezTo>
                    <a:pt x="47457" y="166793"/>
                    <a:pt x="47457" y="169403"/>
                    <a:pt x="47457" y="170709"/>
                  </a:cubicBezTo>
                  <a:cubicBezTo>
                    <a:pt x="47457" y="170709"/>
                    <a:pt x="47457" y="170709"/>
                    <a:pt x="48784" y="173319"/>
                  </a:cubicBezTo>
                  <a:cubicBezTo>
                    <a:pt x="50111" y="175930"/>
                    <a:pt x="51437" y="175930"/>
                    <a:pt x="52764" y="175930"/>
                  </a:cubicBezTo>
                  <a:lnTo>
                    <a:pt x="55418" y="174625"/>
                  </a:lnTo>
                  <a:cubicBezTo>
                    <a:pt x="55418" y="174625"/>
                    <a:pt x="55418" y="174625"/>
                    <a:pt x="87263" y="216393"/>
                  </a:cubicBezTo>
                  <a:cubicBezTo>
                    <a:pt x="87263" y="216393"/>
                    <a:pt x="87263" y="216393"/>
                    <a:pt x="55418" y="230752"/>
                  </a:cubicBezTo>
                  <a:cubicBezTo>
                    <a:pt x="48784" y="233362"/>
                    <a:pt x="40823" y="230752"/>
                    <a:pt x="38169" y="224225"/>
                  </a:cubicBezTo>
                  <a:cubicBezTo>
                    <a:pt x="38169" y="224225"/>
                    <a:pt x="38169" y="224225"/>
                    <a:pt x="1017" y="147214"/>
                  </a:cubicBezTo>
                  <a:cubicBezTo>
                    <a:pt x="-1637" y="140687"/>
                    <a:pt x="1017" y="132856"/>
                    <a:pt x="7651" y="128940"/>
                  </a:cubicBezTo>
                  <a:cubicBezTo>
                    <a:pt x="7651" y="128940"/>
                    <a:pt x="7651" y="128940"/>
                    <a:pt x="39496" y="115887"/>
                  </a:cubicBezTo>
                  <a:close/>
                  <a:moveTo>
                    <a:pt x="63900" y="106627"/>
                  </a:moveTo>
                  <a:cubicBezTo>
                    <a:pt x="67524" y="108102"/>
                    <a:pt x="70489" y="111051"/>
                    <a:pt x="71807" y="114982"/>
                  </a:cubicBezTo>
                  <a:cubicBezTo>
                    <a:pt x="71807" y="114982"/>
                    <a:pt x="71807" y="114982"/>
                    <a:pt x="81033" y="133331"/>
                  </a:cubicBezTo>
                  <a:cubicBezTo>
                    <a:pt x="81033" y="133331"/>
                    <a:pt x="81033" y="133331"/>
                    <a:pt x="87623" y="130710"/>
                  </a:cubicBezTo>
                  <a:lnTo>
                    <a:pt x="95803" y="133422"/>
                  </a:lnTo>
                  <a:lnTo>
                    <a:pt x="94055" y="135965"/>
                  </a:lnTo>
                  <a:lnTo>
                    <a:pt x="89115" y="134702"/>
                  </a:lnTo>
                  <a:cubicBezTo>
                    <a:pt x="89115" y="134702"/>
                    <a:pt x="89115" y="134702"/>
                    <a:pt x="83823" y="137407"/>
                  </a:cubicBezTo>
                  <a:cubicBezTo>
                    <a:pt x="83823" y="137407"/>
                    <a:pt x="82500" y="137407"/>
                    <a:pt x="82500" y="137407"/>
                  </a:cubicBezTo>
                  <a:cubicBezTo>
                    <a:pt x="82500" y="137407"/>
                    <a:pt x="82500" y="137407"/>
                    <a:pt x="97053" y="169863"/>
                  </a:cubicBezTo>
                  <a:cubicBezTo>
                    <a:pt x="97053" y="169863"/>
                    <a:pt x="97053" y="169863"/>
                    <a:pt x="98375" y="169863"/>
                  </a:cubicBezTo>
                  <a:lnTo>
                    <a:pt x="103667" y="167158"/>
                  </a:lnTo>
                  <a:cubicBezTo>
                    <a:pt x="106313" y="165806"/>
                    <a:pt x="106313" y="163101"/>
                    <a:pt x="106313" y="161749"/>
                  </a:cubicBezTo>
                  <a:lnTo>
                    <a:pt x="106109" y="161308"/>
                  </a:lnTo>
                  <a:lnTo>
                    <a:pt x="109648" y="161866"/>
                  </a:lnTo>
                  <a:lnTo>
                    <a:pt x="110272" y="161402"/>
                  </a:lnTo>
                  <a:lnTo>
                    <a:pt x="110522" y="164622"/>
                  </a:lnTo>
                  <a:cubicBezTo>
                    <a:pt x="109698" y="166752"/>
                    <a:pt x="108051" y="168718"/>
                    <a:pt x="106074" y="170028"/>
                  </a:cubicBezTo>
                  <a:cubicBezTo>
                    <a:pt x="106074" y="170028"/>
                    <a:pt x="106074" y="170028"/>
                    <a:pt x="99484" y="172650"/>
                  </a:cubicBezTo>
                  <a:cubicBezTo>
                    <a:pt x="99484" y="172650"/>
                    <a:pt x="99484" y="172650"/>
                    <a:pt x="107391" y="192309"/>
                  </a:cubicBezTo>
                  <a:cubicBezTo>
                    <a:pt x="111345" y="198862"/>
                    <a:pt x="107391" y="208036"/>
                    <a:pt x="100802" y="211968"/>
                  </a:cubicBezTo>
                  <a:cubicBezTo>
                    <a:pt x="100802" y="211968"/>
                    <a:pt x="100802" y="211968"/>
                    <a:pt x="91576" y="215900"/>
                  </a:cubicBezTo>
                  <a:cubicBezTo>
                    <a:pt x="91576" y="215900"/>
                    <a:pt x="91576" y="215900"/>
                    <a:pt x="59946" y="172650"/>
                  </a:cubicBezTo>
                  <a:cubicBezTo>
                    <a:pt x="59946" y="172650"/>
                    <a:pt x="59946" y="172650"/>
                    <a:pt x="62582" y="171339"/>
                  </a:cubicBezTo>
                  <a:cubicBezTo>
                    <a:pt x="65218" y="170028"/>
                    <a:pt x="65218" y="167407"/>
                    <a:pt x="63900" y="166097"/>
                  </a:cubicBezTo>
                  <a:cubicBezTo>
                    <a:pt x="63900" y="166097"/>
                    <a:pt x="63900" y="166097"/>
                    <a:pt x="62582" y="163475"/>
                  </a:cubicBezTo>
                  <a:cubicBezTo>
                    <a:pt x="62582" y="162165"/>
                    <a:pt x="59946" y="160854"/>
                    <a:pt x="58628" y="162165"/>
                  </a:cubicBezTo>
                  <a:cubicBezTo>
                    <a:pt x="58628" y="162165"/>
                    <a:pt x="58628" y="162165"/>
                    <a:pt x="54674" y="163475"/>
                  </a:cubicBezTo>
                  <a:cubicBezTo>
                    <a:pt x="54674" y="163475"/>
                    <a:pt x="54674" y="163475"/>
                    <a:pt x="42813" y="111051"/>
                  </a:cubicBezTo>
                  <a:cubicBezTo>
                    <a:pt x="42813" y="111051"/>
                    <a:pt x="42813" y="111051"/>
                    <a:pt x="52038" y="107119"/>
                  </a:cubicBezTo>
                  <a:cubicBezTo>
                    <a:pt x="55992" y="105153"/>
                    <a:pt x="60275" y="105153"/>
                    <a:pt x="63900" y="106627"/>
                  </a:cubicBezTo>
                  <a:close/>
                  <a:moveTo>
                    <a:pt x="221560" y="67725"/>
                  </a:moveTo>
                  <a:cubicBezTo>
                    <a:pt x="226810" y="65087"/>
                    <a:pt x="234687" y="65087"/>
                    <a:pt x="239938" y="67725"/>
                  </a:cubicBezTo>
                  <a:cubicBezTo>
                    <a:pt x="247814" y="73001"/>
                    <a:pt x="250440" y="80915"/>
                    <a:pt x="249127" y="90147"/>
                  </a:cubicBezTo>
                  <a:cubicBezTo>
                    <a:pt x="249127" y="92785"/>
                    <a:pt x="249127" y="96742"/>
                    <a:pt x="249127" y="99380"/>
                  </a:cubicBezTo>
                  <a:cubicBezTo>
                    <a:pt x="249127" y="99380"/>
                    <a:pt x="249127" y="99380"/>
                    <a:pt x="259629" y="162691"/>
                  </a:cubicBezTo>
                  <a:cubicBezTo>
                    <a:pt x="259629" y="162691"/>
                    <a:pt x="259629" y="162691"/>
                    <a:pt x="300324" y="193027"/>
                  </a:cubicBezTo>
                  <a:cubicBezTo>
                    <a:pt x="308200" y="198303"/>
                    <a:pt x="309513" y="207536"/>
                    <a:pt x="304262" y="215450"/>
                  </a:cubicBezTo>
                  <a:cubicBezTo>
                    <a:pt x="299011" y="222045"/>
                    <a:pt x="289822" y="223363"/>
                    <a:pt x="283258" y="219407"/>
                  </a:cubicBezTo>
                  <a:cubicBezTo>
                    <a:pt x="283258" y="219407"/>
                    <a:pt x="281946" y="219407"/>
                    <a:pt x="281946" y="218088"/>
                  </a:cubicBezTo>
                  <a:cubicBezTo>
                    <a:pt x="281946" y="218088"/>
                    <a:pt x="281946" y="218088"/>
                    <a:pt x="236000" y="185113"/>
                  </a:cubicBezTo>
                  <a:cubicBezTo>
                    <a:pt x="232061" y="182475"/>
                    <a:pt x="230749" y="178518"/>
                    <a:pt x="229436" y="174562"/>
                  </a:cubicBezTo>
                  <a:cubicBezTo>
                    <a:pt x="229436" y="174562"/>
                    <a:pt x="229436" y="174562"/>
                    <a:pt x="224185" y="145544"/>
                  </a:cubicBezTo>
                  <a:cubicBezTo>
                    <a:pt x="224185" y="145544"/>
                    <a:pt x="224185" y="145544"/>
                    <a:pt x="196617" y="194346"/>
                  </a:cubicBezTo>
                  <a:cubicBezTo>
                    <a:pt x="196617" y="194346"/>
                    <a:pt x="196617" y="194346"/>
                    <a:pt x="229436" y="243148"/>
                  </a:cubicBezTo>
                  <a:cubicBezTo>
                    <a:pt x="234687" y="249743"/>
                    <a:pt x="234687" y="258976"/>
                    <a:pt x="230749" y="265571"/>
                  </a:cubicBezTo>
                  <a:cubicBezTo>
                    <a:pt x="230749" y="265571"/>
                    <a:pt x="230749" y="265571"/>
                    <a:pt x="195305" y="318329"/>
                  </a:cubicBezTo>
                  <a:cubicBezTo>
                    <a:pt x="188741" y="326243"/>
                    <a:pt x="178239" y="328881"/>
                    <a:pt x="169050" y="323605"/>
                  </a:cubicBezTo>
                  <a:cubicBezTo>
                    <a:pt x="169050" y="323605"/>
                    <a:pt x="169050" y="323605"/>
                    <a:pt x="167737" y="323605"/>
                  </a:cubicBezTo>
                  <a:cubicBezTo>
                    <a:pt x="159861" y="318329"/>
                    <a:pt x="157235" y="305140"/>
                    <a:pt x="162486" y="297226"/>
                  </a:cubicBezTo>
                  <a:cubicBezTo>
                    <a:pt x="162486" y="297226"/>
                    <a:pt x="162486" y="297226"/>
                    <a:pt x="191366" y="255019"/>
                  </a:cubicBezTo>
                  <a:cubicBezTo>
                    <a:pt x="191366" y="255019"/>
                    <a:pt x="191366" y="255019"/>
                    <a:pt x="167737" y="220726"/>
                  </a:cubicBezTo>
                  <a:cubicBezTo>
                    <a:pt x="167737" y="220726"/>
                    <a:pt x="167737" y="220726"/>
                    <a:pt x="70594" y="322286"/>
                  </a:cubicBezTo>
                  <a:cubicBezTo>
                    <a:pt x="65343" y="328881"/>
                    <a:pt x="54841" y="330200"/>
                    <a:pt x="46965" y="326243"/>
                  </a:cubicBezTo>
                  <a:cubicBezTo>
                    <a:pt x="45652" y="324924"/>
                    <a:pt x="44339" y="323605"/>
                    <a:pt x="44339" y="322286"/>
                  </a:cubicBezTo>
                  <a:cubicBezTo>
                    <a:pt x="36463" y="315691"/>
                    <a:pt x="36463" y="303821"/>
                    <a:pt x="43027" y="295907"/>
                  </a:cubicBezTo>
                  <a:cubicBezTo>
                    <a:pt x="43027" y="295907"/>
                    <a:pt x="43027" y="295907"/>
                    <a:pt x="144108" y="189070"/>
                  </a:cubicBezTo>
                  <a:cubicBezTo>
                    <a:pt x="144108" y="185113"/>
                    <a:pt x="145421" y="181156"/>
                    <a:pt x="148046" y="177200"/>
                  </a:cubicBezTo>
                  <a:cubicBezTo>
                    <a:pt x="148046" y="177200"/>
                    <a:pt x="148046" y="177200"/>
                    <a:pt x="190054" y="103337"/>
                  </a:cubicBezTo>
                  <a:cubicBezTo>
                    <a:pt x="190054" y="103337"/>
                    <a:pt x="190054" y="103337"/>
                    <a:pt x="151984" y="107294"/>
                  </a:cubicBezTo>
                  <a:cubicBezTo>
                    <a:pt x="151984" y="107294"/>
                    <a:pt x="151984" y="107294"/>
                    <a:pt x="119166" y="154777"/>
                  </a:cubicBezTo>
                  <a:lnTo>
                    <a:pt x="110272" y="161402"/>
                  </a:lnTo>
                  <a:lnTo>
                    <a:pt x="110027" y="158233"/>
                  </a:lnTo>
                  <a:cubicBezTo>
                    <a:pt x="99484" y="134642"/>
                    <a:pt x="99484" y="134642"/>
                    <a:pt x="99484" y="134642"/>
                  </a:cubicBezTo>
                  <a:lnTo>
                    <a:pt x="95803" y="133422"/>
                  </a:lnTo>
                  <a:lnTo>
                    <a:pt x="97670" y="130706"/>
                  </a:lnTo>
                  <a:cubicBezTo>
                    <a:pt x="102428" y="123781"/>
                    <a:pt x="111946" y="109932"/>
                    <a:pt x="130980" y="82234"/>
                  </a:cubicBezTo>
                  <a:cubicBezTo>
                    <a:pt x="133606" y="78277"/>
                    <a:pt x="137544" y="75639"/>
                    <a:pt x="141482" y="75639"/>
                  </a:cubicBezTo>
                  <a:cubicBezTo>
                    <a:pt x="141482" y="75639"/>
                    <a:pt x="141482" y="75639"/>
                    <a:pt x="221560" y="67725"/>
                  </a:cubicBezTo>
                  <a:close/>
                  <a:moveTo>
                    <a:pt x="276970" y="0"/>
                  </a:moveTo>
                  <a:cubicBezTo>
                    <a:pt x="299328" y="0"/>
                    <a:pt x="317452" y="17769"/>
                    <a:pt x="317452" y="39688"/>
                  </a:cubicBezTo>
                  <a:cubicBezTo>
                    <a:pt x="317452" y="61607"/>
                    <a:pt x="299328" y="79376"/>
                    <a:pt x="276970" y="79376"/>
                  </a:cubicBezTo>
                  <a:cubicBezTo>
                    <a:pt x="254612" y="79376"/>
                    <a:pt x="236488" y="61607"/>
                    <a:pt x="236488" y="39688"/>
                  </a:cubicBezTo>
                  <a:cubicBezTo>
                    <a:pt x="236488" y="17769"/>
                    <a:pt x="254612" y="0"/>
                    <a:pt x="2769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no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41" name="组合 40"/>
          <p:cNvGrpSpPr/>
          <p:nvPr>
            <p:custDataLst>
              <p:tags r:id="rId6"/>
            </p:custDataLst>
          </p:nvPr>
        </p:nvGrpSpPr>
        <p:grpSpPr>
          <a:xfrm>
            <a:off x="5131348" y="2997739"/>
            <a:ext cx="3176992" cy="651928"/>
            <a:chOff x="6901910" y="2138166"/>
            <a:chExt cx="4235989" cy="869237"/>
          </a:xfrm>
        </p:grpSpPr>
        <p:grpSp>
          <p:nvGrpSpPr>
            <p:cNvPr id="42" name="组合 41"/>
            <p:cNvGrpSpPr/>
            <p:nvPr/>
          </p:nvGrpSpPr>
          <p:grpSpPr>
            <a:xfrm>
              <a:off x="7448095" y="2138166"/>
              <a:ext cx="3689804" cy="869237"/>
              <a:chOff x="1136195" y="2091953"/>
              <a:chExt cx="3689804" cy="869237"/>
            </a:xfrm>
          </p:grpSpPr>
          <p:sp>
            <p:nvSpPr>
              <p:cNvPr id="44" name="文本框 26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136195" y="2091953"/>
                <a:ext cx="3037840" cy="4292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5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核心</a:t>
                </a:r>
                <a:r>
                  <a:rPr lang="en-US" altLang="zh-CN" sz="15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“</a:t>
                </a:r>
                <a:r>
                  <a:rPr lang="zh-CN" altLang="en-US" sz="15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产品包</a:t>
                </a:r>
                <a:r>
                  <a:rPr lang="en-US" altLang="zh-CN" sz="15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”</a:t>
                </a:r>
                <a:r>
                  <a:rPr lang="zh-CN" altLang="en-US" sz="15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详细设计</a:t>
                </a:r>
                <a:endParaRPr lang="zh-CN" altLang="en-US" sz="15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5" name="文本框 2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136195" y="2407193"/>
                <a:ext cx="3689804" cy="553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defRPr/>
                </a:pPr>
                <a:r>
                  <a:rPr lang="zh-CN" altLang="en-US" sz="105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您的内容打在这里，或者通过复制您的文本后，在此框中选择粘贴，并选择只保留文字。</a:t>
                </a:r>
                <a:endParaRPr lang="zh-CN" altLang="en-US" sz="10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43" name="椭圆 25"/>
            <p:cNvSpPr/>
            <p:nvPr>
              <p:custDataLst>
                <p:tags r:id="rId9"/>
              </p:custDataLst>
            </p:nvPr>
          </p:nvSpPr>
          <p:spPr>
            <a:xfrm>
              <a:off x="6901910" y="2374590"/>
              <a:ext cx="365612" cy="365612"/>
            </a:xfrm>
            <a:custGeom>
              <a:avLst/>
              <a:gdLst>
                <a:gd name="connsiteX0" fmla="*/ 157638 w 338138"/>
                <a:gd name="connsiteY0" fmla="*/ 144463 h 338138"/>
                <a:gd name="connsiteX1" fmla="*/ 165544 w 338138"/>
                <a:gd name="connsiteY1" fmla="*/ 148443 h 338138"/>
                <a:gd name="connsiteX2" fmla="*/ 249865 w 338138"/>
                <a:gd name="connsiteY2" fmla="*/ 233341 h 338138"/>
                <a:gd name="connsiteX3" fmla="*/ 280167 w 338138"/>
                <a:gd name="connsiteY3" fmla="*/ 232015 h 338138"/>
                <a:gd name="connsiteX4" fmla="*/ 286755 w 338138"/>
                <a:gd name="connsiteY4" fmla="*/ 234668 h 338138"/>
                <a:gd name="connsiteX5" fmla="*/ 335503 w 338138"/>
                <a:gd name="connsiteY5" fmla="*/ 283750 h 338138"/>
                <a:gd name="connsiteX6" fmla="*/ 338138 w 338138"/>
                <a:gd name="connsiteY6" fmla="*/ 293036 h 338138"/>
                <a:gd name="connsiteX7" fmla="*/ 330233 w 338138"/>
                <a:gd name="connsiteY7" fmla="*/ 298342 h 338138"/>
                <a:gd name="connsiteX8" fmla="*/ 311788 w 338138"/>
                <a:gd name="connsiteY8" fmla="*/ 303648 h 338138"/>
                <a:gd name="connsiteX9" fmla="*/ 303883 w 338138"/>
                <a:gd name="connsiteY9" fmla="*/ 310281 h 338138"/>
                <a:gd name="connsiteX10" fmla="*/ 299930 w 338138"/>
                <a:gd name="connsiteY10" fmla="*/ 331505 h 338138"/>
                <a:gd name="connsiteX11" fmla="*/ 293343 w 338138"/>
                <a:gd name="connsiteY11" fmla="*/ 338138 h 338138"/>
                <a:gd name="connsiteX12" fmla="*/ 290708 w 338138"/>
                <a:gd name="connsiteY12" fmla="*/ 338138 h 338138"/>
                <a:gd name="connsiteX13" fmla="*/ 284120 w 338138"/>
                <a:gd name="connsiteY13" fmla="*/ 335485 h 338138"/>
                <a:gd name="connsiteX14" fmla="*/ 235372 w 338138"/>
                <a:gd name="connsiteY14" fmla="*/ 286403 h 338138"/>
                <a:gd name="connsiteX15" fmla="*/ 232737 w 338138"/>
                <a:gd name="connsiteY15" fmla="*/ 279770 h 338138"/>
                <a:gd name="connsiteX16" fmla="*/ 234054 w 338138"/>
                <a:gd name="connsiteY16" fmla="*/ 249260 h 338138"/>
                <a:gd name="connsiteX17" fmla="*/ 149733 w 338138"/>
                <a:gd name="connsiteY17" fmla="*/ 164361 h 338138"/>
                <a:gd name="connsiteX18" fmla="*/ 149733 w 338138"/>
                <a:gd name="connsiteY18" fmla="*/ 148443 h 338138"/>
                <a:gd name="connsiteX19" fmla="*/ 157638 w 338138"/>
                <a:gd name="connsiteY19" fmla="*/ 144463 h 338138"/>
                <a:gd name="connsiteX20" fmla="*/ 145922 w 338138"/>
                <a:gd name="connsiteY20" fmla="*/ 120650 h 338138"/>
                <a:gd name="connsiteX21" fmla="*/ 169863 w 338138"/>
                <a:gd name="connsiteY21" fmla="*/ 137383 h 338138"/>
                <a:gd name="connsiteX22" fmla="*/ 157893 w 338138"/>
                <a:gd name="connsiteY22" fmla="*/ 133522 h 338138"/>
                <a:gd name="connsiteX23" fmla="*/ 141931 w 338138"/>
                <a:gd name="connsiteY23" fmla="*/ 141245 h 338138"/>
                <a:gd name="connsiteX24" fmla="*/ 137941 w 338138"/>
                <a:gd name="connsiteY24" fmla="*/ 168275 h 338138"/>
                <a:gd name="connsiteX25" fmla="*/ 120650 w 338138"/>
                <a:gd name="connsiteY25" fmla="*/ 145106 h 338138"/>
                <a:gd name="connsiteX26" fmla="*/ 145922 w 338138"/>
                <a:gd name="connsiteY26" fmla="*/ 120650 h 338138"/>
                <a:gd name="connsiteX27" fmla="*/ 146051 w 338138"/>
                <a:gd name="connsiteY27" fmla="*/ 60325 h 338138"/>
                <a:gd name="connsiteX28" fmla="*/ 230188 w 338138"/>
                <a:gd name="connsiteY28" fmla="*/ 145257 h 338138"/>
                <a:gd name="connsiteX29" fmla="*/ 219671 w 338138"/>
                <a:gd name="connsiteY29" fmla="*/ 186395 h 338138"/>
                <a:gd name="connsiteX30" fmla="*/ 193378 w 338138"/>
                <a:gd name="connsiteY30" fmla="*/ 161181 h 338138"/>
                <a:gd name="connsiteX31" fmla="*/ 196007 w 338138"/>
                <a:gd name="connsiteY31" fmla="*/ 145257 h 338138"/>
                <a:gd name="connsiteX32" fmla="*/ 146051 w 338138"/>
                <a:gd name="connsiteY32" fmla="*/ 94828 h 338138"/>
                <a:gd name="connsiteX33" fmla="*/ 96094 w 338138"/>
                <a:gd name="connsiteY33" fmla="*/ 145257 h 338138"/>
                <a:gd name="connsiteX34" fmla="*/ 146051 w 338138"/>
                <a:gd name="connsiteY34" fmla="*/ 195685 h 338138"/>
                <a:gd name="connsiteX35" fmla="*/ 161827 w 338138"/>
                <a:gd name="connsiteY35" fmla="*/ 193031 h 338138"/>
                <a:gd name="connsiteX36" fmla="*/ 188119 w 338138"/>
                <a:gd name="connsiteY36" fmla="*/ 219572 h 338138"/>
                <a:gd name="connsiteX37" fmla="*/ 146051 w 338138"/>
                <a:gd name="connsiteY37" fmla="*/ 230188 h 338138"/>
                <a:gd name="connsiteX38" fmla="*/ 61913 w 338138"/>
                <a:gd name="connsiteY38" fmla="*/ 145257 h 338138"/>
                <a:gd name="connsiteX39" fmla="*/ 146051 w 338138"/>
                <a:gd name="connsiteY39" fmla="*/ 60325 h 338138"/>
                <a:gd name="connsiteX40" fmla="*/ 145257 w 338138"/>
                <a:gd name="connsiteY40" fmla="*/ 0 h 338138"/>
                <a:gd name="connsiteX41" fmla="*/ 290513 w 338138"/>
                <a:gd name="connsiteY41" fmla="*/ 145257 h 338138"/>
                <a:gd name="connsiteX42" fmla="*/ 269385 w 338138"/>
                <a:gd name="connsiteY42" fmla="*/ 221846 h 338138"/>
                <a:gd name="connsiteX43" fmla="*/ 254859 w 338138"/>
                <a:gd name="connsiteY43" fmla="*/ 221846 h 338138"/>
                <a:gd name="connsiteX44" fmla="*/ 239013 w 338138"/>
                <a:gd name="connsiteY44" fmla="*/ 206000 h 338138"/>
                <a:gd name="connsiteX45" fmla="*/ 256180 w 338138"/>
                <a:gd name="connsiteY45" fmla="*/ 145257 h 338138"/>
                <a:gd name="connsiteX46" fmla="*/ 145257 w 338138"/>
                <a:gd name="connsiteY46" fmla="*/ 34333 h 338138"/>
                <a:gd name="connsiteX47" fmla="*/ 34333 w 338138"/>
                <a:gd name="connsiteY47" fmla="*/ 145257 h 338138"/>
                <a:gd name="connsiteX48" fmla="*/ 145257 w 338138"/>
                <a:gd name="connsiteY48" fmla="*/ 256180 h 338138"/>
                <a:gd name="connsiteX49" fmla="*/ 206000 w 338138"/>
                <a:gd name="connsiteY49" fmla="*/ 239013 h 338138"/>
                <a:gd name="connsiteX50" fmla="*/ 221847 w 338138"/>
                <a:gd name="connsiteY50" fmla="*/ 254859 h 338138"/>
                <a:gd name="connsiteX51" fmla="*/ 221847 w 338138"/>
                <a:gd name="connsiteY51" fmla="*/ 269385 h 338138"/>
                <a:gd name="connsiteX52" fmla="*/ 145257 w 338138"/>
                <a:gd name="connsiteY52" fmla="*/ 290513 h 338138"/>
                <a:gd name="connsiteX53" fmla="*/ 0 w 338138"/>
                <a:gd name="connsiteY53" fmla="*/ 145257 h 338138"/>
                <a:gd name="connsiteX54" fmla="*/ 145257 w 338138"/>
                <a:gd name="connsiteY54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38138" h="338138">
                  <a:moveTo>
                    <a:pt x="157638" y="144463"/>
                  </a:moveTo>
                  <a:cubicBezTo>
                    <a:pt x="160273" y="144463"/>
                    <a:pt x="162908" y="145790"/>
                    <a:pt x="165544" y="148443"/>
                  </a:cubicBezTo>
                  <a:cubicBezTo>
                    <a:pt x="165544" y="148443"/>
                    <a:pt x="165544" y="148443"/>
                    <a:pt x="249865" y="233341"/>
                  </a:cubicBezTo>
                  <a:cubicBezTo>
                    <a:pt x="249865" y="233341"/>
                    <a:pt x="249865" y="233341"/>
                    <a:pt x="280167" y="232015"/>
                  </a:cubicBezTo>
                  <a:cubicBezTo>
                    <a:pt x="282803" y="232015"/>
                    <a:pt x="285438" y="233341"/>
                    <a:pt x="286755" y="234668"/>
                  </a:cubicBezTo>
                  <a:cubicBezTo>
                    <a:pt x="286755" y="234668"/>
                    <a:pt x="286755" y="234668"/>
                    <a:pt x="335503" y="283750"/>
                  </a:cubicBezTo>
                  <a:cubicBezTo>
                    <a:pt x="338138" y="286403"/>
                    <a:pt x="338138" y="289056"/>
                    <a:pt x="338138" y="293036"/>
                  </a:cubicBezTo>
                  <a:cubicBezTo>
                    <a:pt x="336821" y="295689"/>
                    <a:pt x="334186" y="298342"/>
                    <a:pt x="330233" y="298342"/>
                  </a:cubicBezTo>
                  <a:cubicBezTo>
                    <a:pt x="330233" y="298342"/>
                    <a:pt x="330233" y="298342"/>
                    <a:pt x="311788" y="303648"/>
                  </a:cubicBezTo>
                  <a:cubicBezTo>
                    <a:pt x="307835" y="303648"/>
                    <a:pt x="305200" y="306301"/>
                    <a:pt x="303883" y="310281"/>
                  </a:cubicBezTo>
                  <a:cubicBezTo>
                    <a:pt x="303883" y="310281"/>
                    <a:pt x="303883" y="310281"/>
                    <a:pt x="299930" y="331505"/>
                  </a:cubicBezTo>
                  <a:cubicBezTo>
                    <a:pt x="298613" y="334158"/>
                    <a:pt x="295978" y="336812"/>
                    <a:pt x="293343" y="338138"/>
                  </a:cubicBezTo>
                  <a:cubicBezTo>
                    <a:pt x="292025" y="338138"/>
                    <a:pt x="292025" y="338138"/>
                    <a:pt x="290708" y="338138"/>
                  </a:cubicBezTo>
                  <a:cubicBezTo>
                    <a:pt x="288073" y="338138"/>
                    <a:pt x="285438" y="336812"/>
                    <a:pt x="284120" y="335485"/>
                  </a:cubicBezTo>
                  <a:cubicBezTo>
                    <a:pt x="284120" y="335485"/>
                    <a:pt x="284120" y="335485"/>
                    <a:pt x="235372" y="286403"/>
                  </a:cubicBezTo>
                  <a:cubicBezTo>
                    <a:pt x="232737" y="283750"/>
                    <a:pt x="232737" y="281097"/>
                    <a:pt x="232737" y="279770"/>
                  </a:cubicBezTo>
                  <a:cubicBezTo>
                    <a:pt x="232737" y="279770"/>
                    <a:pt x="232737" y="279770"/>
                    <a:pt x="234054" y="249260"/>
                  </a:cubicBezTo>
                  <a:cubicBezTo>
                    <a:pt x="234054" y="249260"/>
                    <a:pt x="234054" y="249260"/>
                    <a:pt x="149733" y="164361"/>
                  </a:cubicBezTo>
                  <a:cubicBezTo>
                    <a:pt x="144463" y="159055"/>
                    <a:pt x="144463" y="152422"/>
                    <a:pt x="149733" y="148443"/>
                  </a:cubicBezTo>
                  <a:cubicBezTo>
                    <a:pt x="151051" y="145790"/>
                    <a:pt x="155003" y="144463"/>
                    <a:pt x="157638" y="144463"/>
                  </a:cubicBezTo>
                  <a:close/>
                  <a:moveTo>
                    <a:pt x="145922" y="120650"/>
                  </a:moveTo>
                  <a:cubicBezTo>
                    <a:pt x="157893" y="120650"/>
                    <a:pt x="167203" y="128373"/>
                    <a:pt x="169863" y="137383"/>
                  </a:cubicBezTo>
                  <a:cubicBezTo>
                    <a:pt x="167203" y="134809"/>
                    <a:pt x="161883" y="133522"/>
                    <a:pt x="157893" y="133522"/>
                  </a:cubicBezTo>
                  <a:cubicBezTo>
                    <a:pt x="151242" y="133522"/>
                    <a:pt x="145922" y="136096"/>
                    <a:pt x="141931" y="141245"/>
                  </a:cubicBezTo>
                  <a:cubicBezTo>
                    <a:pt x="133951" y="147680"/>
                    <a:pt x="132620" y="160552"/>
                    <a:pt x="137941" y="168275"/>
                  </a:cubicBezTo>
                  <a:cubicBezTo>
                    <a:pt x="128630" y="165701"/>
                    <a:pt x="120650" y="156691"/>
                    <a:pt x="120650" y="145106"/>
                  </a:cubicBezTo>
                  <a:cubicBezTo>
                    <a:pt x="120650" y="132234"/>
                    <a:pt x="132620" y="120650"/>
                    <a:pt x="145922" y="120650"/>
                  </a:cubicBezTo>
                  <a:close/>
                  <a:moveTo>
                    <a:pt x="146051" y="60325"/>
                  </a:moveTo>
                  <a:cubicBezTo>
                    <a:pt x="192063" y="60325"/>
                    <a:pt x="230188" y="98810"/>
                    <a:pt x="230188" y="145257"/>
                  </a:cubicBezTo>
                  <a:cubicBezTo>
                    <a:pt x="230188" y="159854"/>
                    <a:pt x="226244" y="174452"/>
                    <a:pt x="219671" y="186395"/>
                  </a:cubicBezTo>
                  <a:lnTo>
                    <a:pt x="193378" y="161181"/>
                  </a:lnTo>
                  <a:cubicBezTo>
                    <a:pt x="196007" y="155873"/>
                    <a:pt x="196007" y="150565"/>
                    <a:pt x="196007" y="145257"/>
                  </a:cubicBezTo>
                  <a:cubicBezTo>
                    <a:pt x="196007" y="117388"/>
                    <a:pt x="173658" y="94828"/>
                    <a:pt x="146051" y="94828"/>
                  </a:cubicBezTo>
                  <a:cubicBezTo>
                    <a:pt x="118443" y="94828"/>
                    <a:pt x="96094" y="117388"/>
                    <a:pt x="96094" y="145257"/>
                  </a:cubicBezTo>
                  <a:cubicBezTo>
                    <a:pt x="96094" y="173125"/>
                    <a:pt x="118443" y="195685"/>
                    <a:pt x="146051" y="195685"/>
                  </a:cubicBezTo>
                  <a:cubicBezTo>
                    <a:pt x="151309" y="195685"/>
                    <a:pt x="156568" y="194358"/>
                    <a:pt x="161827" y="193031"/>
                  </a:cubicBezTo>
                  <a:cubicBezTo>
                    <a:pt x="161827" y="193031"/>
                    <a:pt x="161827" y="193031"/>
                    <a:pt x="188119" y="219572"/>
                  </a:cubicBezTo>
                  <a:cubicBezTo>
                    <a:pt x="174973" y="226207"/>
                    <a:pt x="161827" y="230188"/>
                    <a:pt x="146051" y="230188"/>
                  </a:cubicBezTo>
                  <a:cubicBezTo>
                    <a:pt x="100038" y="230188"/>
                    <a:pt x="61913" y="191703"/>
                    <a:pt x="61913" y="145257"/>
                  </a:cubicBezTo>
                  <a:cubicBezTo>
                    <a:pt x="61913" y="98810"/>
                    <a:pt x="100038" y="60325"/>
                    <a:pt x="146051" y="60325"/>
                  </a:cubicBezTo>
                  <a:close/>
                  <a:moveTo>
                    <a:pt x="145257" y="0"/>
                  </a:moveTo>
                  <a:cubicBezTo>
                    <a:pt x="225808" y="0"/>
                    <a:pt x="290513" y="64705"/>
                    <a:pt x="290513" y="145257"/>
                  </a:cubicBezTo>
                  <a:cubicBezTo>
                    <a:pt x="290513" y="172987"/>
                    <a:pt x="282590" y="199398"/>
                    <a:pt x="269385" y="221846"/>
                  </a:cubicBezTo>
                  <a:cubicBezTo>
                    <a:pt x="269385" y="221846"/>
                    <a:pt x="269385" y="221846"/>
                    <a:pt x="254859" y="221846"/>
                  </a:cubicBezTo>
                  <a:cubicBezTo>
                    <a:pt x="254859" y="221846"/>
                    <a:pt x="254859" y="221846"/>
                    <a:pt x="239013" y="206000"/>
                  </a:cubicBezTo>
                  <a:cubicBezTo>
                    <a:pt x="249577" y="188833"/>
                    <a:pt x="256180" y="167705"/>
                    <a:pt x="256180" y="145257"/>
                  </a:cubicBezTo>
                  <a:cubicBezTo>
                    <a:pt x="256180" y="84513"/>
                    <a:pt x="207321" y="34333"/>
                    <a:pt x="145257" y="34333"/>
                  </a:cubicBezTo>
                  <a:cubicBezTo>
                    <a:pt x="84513" y="34333"/>
                    <a:pt x="34333" y="84513"/>
                    <a:pt x="34333" y="145257"/>
                  </a:cubicBezTo>
                  <a:cubicBezTo>
                    <a:pt x="34333" y="207321"/>
                    <a:pt x="84513" y="256180"/>
                    <a:pt x="145257" y="256180"/>
                  </a:cubicBezTo>
                  <a:cubicBezTo>
                    <a:pt x="167705" y="256180"/>
                    <a:pt x="188834" y="249577"/>
                    <a:pt x="206000" y="239013"/>
                  </a:cubicBezTo>
                  <a:cubicBezTo>
                    <a:pt x="206000" y="239013"/>
                    <a:pt x="206000" y="239013"/>
                    <a:pt x="221847" y="254859"/>
                  </a:cubicBezTo>
                  <a:cubicBezTo>
                    <a:pt x="221847" y="254859"/>
                    <a:pt x="221847" y="254859"/>
                    <a:pt x="221847" y="269385"/>
                  </a:cubicBezTo>
                  <a:cubicBezTo>
                    <a:pt x="199398" y="282590"/>
                    <a:pt x="172988" y="290513"/>
                    <a:pt x="145257" y="290513"/>
                  </a:cubicBezTo>
                  <a:cubicBezTo>
                    <a:pt x="64705" y="290513"/>
                    <a:pt x="0" y="225808"/>
                    <a:pt x="0" y="145257"/>
                  </a:cubicBezTo>
                  <a:cubicBezTo>
                    <a:pt x="0" y="64705"/>
                    <a:pt x="64705" y="0"/>
                    <a:pt x="1452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noAutofit/>
            </a:bodyPr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51" name="图片占位符 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" r="50"/>
          <a:stretch>
            <a:fillRect/>
          </a:stretch>
        </p:blipFill>
        <p:spPr>
          <a:xfrm>
            <a:off x="1138173" y="1603626"/>
            <a:ext cx="3435136" cy="1940564"/>
          </a:xfrm>
          <a:custGeom>
            <a:avLst/>
            <a:gdLst>
              <a:gd name="connsiteX0" fmla="*/ 0 w 4580181"/>
              <a:gd name="connsiteY0" fmla="*/ 0 h 2587419"/>
              <a:gd name="connsiteX1" fmla="*/ 4580181 w 4580181"/>
              <a:gd name="connsiteY1" fmla="*/ 0 h 2587419"/>
              <a:gd name="connsiteX2" fmla="*/ 4580181 w 4580181"/>
              <a:gd name="connsiteY2" fmla="*/ 2587419 h 2587419"/>
              <a:gd name="connsiteX3" fmla="*/ 0 w 4580181"/>
              <a:gd name="connsiteY3" fmla="*/ 2587419 h 2587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0181" h="2587419">
                <a:moveTo>
                  <a:pt x="0" y="0"/>
                </a:moveTo>
                <a:lnTo>
                  <a:pt x="4580181" y="0"/>
                </a:lnTo>
                <a:lnTo>
                  <a:pt x="4580181" y="2587419"/>
                </a:lnTo>
                <a:lnTo>
                  <a:pt x="0" y="2587419"/>
                </a:lnTo>
                <a:close/>
              </a:path>
            </a:pathLst>
          </a:custGeom>
        </p:spPr>
      </p:pic>
      <p:pic>
        <p:nvPicPr>
          <p:cNvPr id="52" name="Picture 64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2964591" y="1416522"/>
            <a:ext cx="1944271" cy="321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2000" t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9502"/>
            <a:ext cx="467544" cy="3600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67544" y="340420"/>
            <a:ext cx="1554480" cy="406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目标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客户细分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MH_Title_1"/>
          <p:cNvSpPr/>
          <p:nvPr>
            <p:custDataLst>
              <p:tags r:id="rId2"/>
            </p:custDataLst>
          </p:nvPr>
        </p:nvSpPr>
        <p:spPr>
          <a:xfrm>
            <a:off x="3287395" y="1635760"/>
            <a:ext cx="2371090" cy="2371090"/>
          </a:xfrm>
          <a:prstGeom prst="donut">
            <a:avLst>
              <a:gd name="adj" fmla="val 8835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100" b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客户</a:t>
            </a:r>
            <a:r>
              <a:rPr lang="zh-CN" altLang="en-US" sz="2100" b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群体</a:t>
            </a:r>
            <a:endParaRPr lang="zh-CN" altLang="en-US" sz="2100" b="1" dirty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00" scaled="0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>
            <p:custDataLst>
              <p:tags r:id="rId3"/>
            </p:custDataLst>
          </p:nvPr>
        </p:nvGrpSpPr>
        <p:grpSpPr>
          <a:xfrm>
            <a:off x="5658307" y="1509711"/>
            <a:ext cx="2599690" cy="1224280"/>
            <a:chOff x="5983393" y="3453654"/>
            <a:chExt cx="3466253" cy="1632373"/>
          </a:xfrm>
        </p:grpSpPr>
        <p:sp>
          <p:nvSpPr>
            <p:cNvPr id="15" name="矩形 14"/>
            <p:cNvSpPr/>
            <p:nvPr>
              <p:custDataLst>
                <p:tags r:id="rId4"/>
              </p:custDataLst>
            </p:nvPr>
          </p:nvSpPr>
          <p:spPr bwMode="auto">
            <a:xfrm>
              <a:off x="5983393" y="4005681"/>
              <a:ext cx="3466253" cy="108034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just">
                <a:lnSpc>
                  <a:spcPct val="130000"/>
                </a:lnSpc>
                <a:defRPr/>
              </a:pPr>
              <a:r>
                <a:rPr lang="zh-CN" altLang="en-US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核心需求为放松、体验、分享。注重景观、特色餐饮、本地文化及</a:t>
              </a:r>
              <a:r>
                <a:rPr lang="en-US" altLang="zh-CN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“</a:t>
              </a:r>
              <a:r>
                <a:rPr lang="zh-CN" altLang="en-US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出片率</a:t>
              </a:r>
              <a:r>
                <a:rPr lang="en-US" altLang="zh-CN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”</a:t>
              </a:r>
              <a:endPara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5"/>
              </p:custDataLst>
            </p:nvPr>
          </p:nvSpPr>
          <p:spPr>
            <a:xfrm>
              <a:off x="6096000" y="3453654"/>
              <a:ext cx="2353733" cy="53170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/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休闲度假客群</a:t>
              </a:r>
              <a:endPara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6"/>
            </p:custDataLst>
          </p:nvPr>
        </p:nvGrpSpPr>
        <p:grpSpPr>
          <a:xfrm>
            <a:off x="5658307" y="3291813"/>
            <a:ext cx="2468245" cy="1098550"/>
            <a:chOff x="6107853" y="3142081"/>
            <a:chExt cx="3290993" cy="1464733"/>
          </a:xfrm>
        </p:grpSpPr>
        <p:sp>
          <p:nvSpPr>
            <p:cNvPr id="18" name="矩形 17"/>
            <p:cNvSpPr/>
            <p:nvPr>
              <p:custDataLst>
                <p:tags r:id="rId7"/>
              </p:custDataLst>
            </p:nvPr>
          </p:nvSpPr>
          <p:spPr bwMode="auto">
            <a:xfrm>
              <a:off x="6107853" y="3526468"/>
              <a:ext cx="3290993" cy="108034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just">
                <a:lnSpc>
                  <a:spcPct val="130000"/>
                </a:lnSpc>
                <a:defRPr/>
              </a:pPr>
              <a:r>
                <a:rPr lang="zh-CN" altLang="en-US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核心需求为空间、设备、一站式服务。注重会议室灵活性及团餐性价比</a:t>
              </a:r>
              <a:endPara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8"/>
              </p:custDataLst>
            </p:nvPr>
          </p:nvSpPr>
          <p:spPr>
            <a:xfrm>
              <a:off x="6243320" y="3142081"/>
              <a:ext cx="2614506" cy="53170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/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会议</a:t>
              </a:r>
              <a:r>
                <a:rPr lang="en-US" altLang="zh-CN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/</a:t>
              </a:r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团体客群</a:t>
              </a:r>
              <a:endPara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9"/>
            </p:custDataLst>
          </p:nvPr>
        </p:nvGrpSpPr>
        <p:grpSpPr>
          <a:xfrm>
            <a:off x="768500" y="1509711"/>
            <a:ext cx="2519045" cy="1209040"/>
            <a:chOff x="5507567" y="3452807"/>
            <a:chExt cx="3358726" cy="1612053"/>
          </a:xfrm>
        </p:grpSpPr>
        <p:sp>
          <p:nvSpPr>
            <p:cNvPr id="21" name="矩形 20"/>
            <p:cNvSpPr/>
            <p:nvPr>
              <p:custDataLst>
                <p:tags r:id="rId10"/>
              </p:custDataLst>
            </p:nvPr>
          </p:nvSpPr>
          <p:spPr bwMode="auto">
            <a:xfrm>
              <a:off x="5507567" y="3984514"/>
              <a:ext cx="3358726" cy="108034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just">
                <a:lnSpc>
                  <a:spcPct val="130000"/>
                </a:lnSpc>
                <a:defRPr/>
              </a:pPr>
              <a:r>
                <a:rPr lang="zh-CN" altLang="en-US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核心需求为高效、便捷。注重交通便利性、高速网络、快速入住</a:t>
              </a:r>
              <a:r>
                <a:rPr lang="en-US" altLang="zh-CN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/</a:t>
              </a:r>
              <a:r>
                <a:rPr lang="zh-CN" altLang="en-US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退房及安静环境</a:t>
              </a:r>
              <a:endPara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11"/>
              </p:custDataLst>
            </p:nvPr>
          </p:nvSpPr>
          <p:spPr>
            <a:xfrm>
              <a:off x="6930812" y="3452807"/>
              <a:ext cx="1794086" cy="53170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/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商务客群</a:t>
              </a:r>
              <a:endPara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12"/>
            </p:custDataLst>
          </p:nvPr>
        </p:nvGrpSpPr>
        <p:grpSpPr>
          <a:xfrm>
            <a:off x="720240" y="3291813"/>
            <a:ext cx="2567305" cy="930910"/>
            <a:chOff x="5443220" y="3142081"/>
            <a:chExt cx="3423073" cy="1241213"/>
          </a:xfrm>
        </p:grpSpPr>
        <p:sp>
          <p:nvSpPr>
            <p:cNvPr id="24" name="矩形 23"/>
            <p:cNvSpPr/>
            <p:nvPr>
              <p:custDataLst>
                <p:tags r:id="rId13"/>
              </p:custDataLst>
            </p:nvPr>
          </p:nvSpPr>
          <p:spPr bwMode="auto">
            <a:xfrm>
              <a:off x="5443220" y="3622141"/>
              <a:ext cx="3423073" cy="76115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 algn="just">
                <a:lnSpc>
                  <a:spcPct val="130000"/>
                </a:lnSpc>
                <a:defRPr/>
              </a:pPr>
              <a:r>
                <a:rPr lang="zh-CN" altLang="en-US" sz="12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核心需求为安全、宽敞、趣味。注重儿童设施、安全防护及亲子互动</a:t>
              </a:r>
              <a:endParaRPr lang="zh-CN" alt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14"/>
              </p:custDataLst>
            </p:nvPr>
          </p:nvSpPr>
          <p:spPr>
            <a:xfrm>
              <a:off x="6440594" y="3142081"/>
              <a:ext cx="2290233" cy="53170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/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家庭亲子客群</a:t>
              </a:r>
              <a:endPara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/>
          <p:cNvSpPr/>
          <p:nvPr>
            <p:custDataLst>
              <p:tags r:id="rId1"/>
            </p:custDataLst>
          </p:nvPr>
        </p:nvSpPr>
        <p:spPr>
          <a:xfrm>
            <a:off x="669427" y="1154582"/>
            <a:ext cx="3577753" cy="35025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 fontScale="6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ea"/>
                <a:cs typeface="+mn-ea"/>
              </a:rPr>
              <a:t>01</a:t>
            </a:r>
            <a:endParaRPr lang="en-US" altLang="zh-CN" sz="3200" b="1" dirty="0">
              <a:solidFill>
                <a:schemeClr val="accent1">
                  <a:lumMod val="40000"/>
                  <a:lumOff val="60000"/>
                </a:schemeClr>
              </a:solidFill>
              <a:latin typeface="+mn-ea"/>
              <a:cs typeface="+mn-ea"/>
            </a:endParaRPr>
          </a:p>
        </p:txBody>
      </p:sp>
      <p:cxnSp>
        <p:nvCxnSpPr>
          <p:cNvPr id="8" name="直接连接符 4"/>
          <p:cNvCxnSpPr/>
          <p:nvPr>
            <p:custDataLst>
              <p:tags r:id="rId2"/>
            </p:custDataLst>
          </p:nvPr>
        </p:nvCxnSpPr>
        <p:spPr>
          <a:xfrm>
            <a:off x="669427" y="1546831"/>
            <a:ext cx="3592664" cy="0"/>
          </a:xfrm>
          <a:prstGeom prst="line">
            <a:avLst/>
          </a:prstGeom>
          <a:ln w="1270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矩形 6"/>
          <p:cNvSpPr/>
          <p:nvPr>
            <p:custDataLst>
              <p:tags r:id="rId3"/>
            </p:custDataLst>
          </p:nvPr>
        </p:nvSpPr>
        <p:spPr>
          <a:xfrm>
            <a:off x="669427" y="1588823"/>
            <a:ext cx="3578135" cy="27672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6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“智享商旅”商务包</a:t>
            </a:r>
            <a:endParaRPr lang="zh-CN" altLang="en-US" sz="16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矩形 8"/>
          <p:cNvSpPr/>
          <p:nvPr>
            <p:custDataLst>
              <p:tags r:id="rId4"/>
            </p:custDataLst>
          </p:nvPr>
        </p:nvSpPr>
        <p:spPr>
          <a:xfrm>
            <a:off x="669427" y="1904245"/>
            <a:ext cx="3577753" cy="903406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客房升级：设置商务优选楼层，配备人体工学椅、加强办公灯光、多接口充电站</a:t>
            </a:r>
            <a:endParaRPr lang="en-US" altLang="zh-CN" sz="7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及移动办公租赁。</a:t>
            </a:r>
            <a:endParaRPr lang="en-US" altLang="zh-CN" sz="7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配套服务：提供免费机场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高铁穿梭巴士（需预约）、延迟退房至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14:00</a:t>
            </a: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、自助商务</a:t>
            </a:r>
            <a:endParaRPr lang="en-US" altLang="zh-CN" sz="7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中心（打印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扫描）。</a:t>
            </a:r>
            <a:endParaRPr lang="en-US" altLang="zh-CN" sz="7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餐饮优化：早餐增设“即取即走”咖啡包，推出午间高效商务简餐。</a:t>
            </a:r>
            <a:endParaRPr lang="zh-CN" altLang="en-US" sz="7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3" name="矩形 10"/>
          <p:cNvSpPr/>
          <p:nvPr>
            <p:custDataLst>
              <p:tags r:id="rId5"/>
            </p:custDataLst>
          </p:nvPr>
        </p:nvSpPr>
        <p:spPr>
          <a:xfrm>
            <a:off x="668950" y="2932585"/>
            <a:ext cx="3578612" cy="35025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 fontScale="6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ea"/>
                <a:cs typeface="+mn-ea"/>
              </a:rPr>
              <a:t>03</a:t>
            </a:r>
            <a:endParaRPr lang="en-US" altLang="zh-CN" sz="3200" b="1" dirty="0">
              <a:solidFill>
                <a:schemeClr val="accent1">
                  <a:lumMod val="40000"/>
                  <a:lumOff val="60000"/>
                </a:schemeClr>
              </a:solidFill>
              <a:latin typeface="+mn-ea"/>
              <a:cs typeface="+mn-ea"/>
            </a:endParaRPr>
          </a:p>
        </p:txBody>
      </p:sp>
      <p:cxnSp>
        <p:nvCxnSpPr>
          <p:cNvPr id="38" name="直接连接符 37"/>
          <p:cNvCxnSpPr/>
          <p:nvPr>
            <p:custDataLst>
              <p:tags r:id="rId6"/>
            </p:custDataLst>
          </p:nvPr>
        </p:nvCxnSpPr>
        <p:spPr>
          <a:xfrm>
            <a:off x="668950" y="3324834"/>
            <a:ext cx="3592664" cy="0"/>
          </a:xfrm>
          <a:prstGeom prst="line">
            <a:avLst/>
          </a:prstGeom>
          <a:ln w="1270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3"/>
          <p:cNvSpPr/>
          <p:nvPr>
            <p:custDataLst>
              <p:tags r:id="rId7"/>
            </p:custDataLst>
          </p:nvPr>
        </p:nvSpPr>
        <p:spPr>
          <a:xfrm>
            <a:off x="668950" y="3366349"/>
            <a:ext cx="3579254" cy="27672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6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“童趣家庭”亲子包</a:t>
            </a:r>
            <a:endParaRPr lang="zh-CN" altLang="en-US" sz="16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6" name="矩形 14"/>
          <p:cNvSpPr/>
          <p:nvPr>
            <p:custDataLst>
              <p:tags r:id="rId8"/>
            </p:custDataLst>
          </p:nvPr>
        </p:nvSpPr>
        <p:spPr>
          <a:xfrm>
            <a:off x="668950" y="3688929"/>
            <a:ext cx="3578813" cy="903406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7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7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空间改造：设置家庭房，公共区域设儿童游乐角（含监控），提供亲子泳池时段。</a:t>
            </a:r>
            <a:endParaRPr lang="en-US" altLang="zh-CN" sz="70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7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7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服务增项：提供儿童欢迎礼包、专属洗漱用品、床围与防撞角、睡前故事服务。</a:t>
            </a:r>
            <a:endParaRPr lang="en-US" altLang="zh-CN" sz="70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7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7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活动策划：周末组织亲子</a:t>
            </a:r>
            <a:r>
              <a:rPr lang="en-US" altLang="zh-CN" sz="7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 DIY</a:t>
            </a:r>
            <a:r>
              <a:rPr lang="zh-CN" altLang="en-US" sz="7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（烘焙、绘画）或室内寻宝游戏。</a:t>
            </a:r>
            <a:endParaRPr lang="zh-CN" altLang="en-US" sz="70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7" name="矩形 15"/>
          <p:cNvSpPr/>
          <p:nvPr>
            <p:custDataLst>
              <p:tags r:id="rId9"/>
            </p:custDataLst>
          </p:nvPr>
        </p:nvSpPr>
        <p:spPr>
          <a:xfrm>
            <a:off x="4875841" y="1154582"/>
            <a:ext cx="3578813" cy="35025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 fontScale="60000"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3200" b="1" dirty="0">
              <a:solidFill>
                <a:schemeClr val="accent2">
                  <a:lumMod val="40000"/>
                  <a:lumOff val="6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43" name="直接连接符 42"/>
          <p:cNvCxnSpPr/>
          <p:nvPr>
            <p:custDataLst>
              <p:tags r:id="rId10"/>
            </p:custDataLst>
          </p:nvPr>
        </p:nvCxnSpPr>
        <p:spPr>
          <a:xfrm>
            <a:off x="4875841" y="1546831"/>
            <a:ext cx="3592664" cy="0"/>
          </a:xfrm>
          <a:prstGeom prst="line">
            <a:avLst/>
          </a:prstGeom>
          <a:ln w="12700">
            <a:solidFill>
              <a:schemeClr val="accent2">
                <a:alpha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11"/>
            </p:custDataLst>
          </p:nvPr>
        </p:nvSpPr>
        <p:spPr>
          <a:xfrm>
            <a:off x="4875841" y="1588823"/>
            <a:ext cx="3579724" cy="27672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600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“在地时光”休闲包</a:t>
            </a:r>
            <a:endParaRPr lang="zh-CN" altLang="en-US" sz="1600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4875841" y="1904245"/>
            <a:ext cx="3578525" cy="903406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7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7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主题客房：设计“古城月色房”、“森林疗愈房”。</a:t>
            </a:r>
            <a:endParaRPr lang="en-US" altLang="zh-CN" sz="70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7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7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体验融合：开发“酒店</a:t>
            </a:r>
            <a:r>
              <a:rPr lang="en-US" altLang="zh-CN" sz="7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 +</a:t>
            </a:r>
            <a:r>
              <a:rPr lang="zh-CN" altLang="en-US" sz="7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”套餐（如：客房</a:t>
            </a:r>
            <a:r>
              <a:rPr lang="en-US" altLang="zh-CN" sz="7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 + </a:t>
            </a:r>
            <a:r>
              <a:rPr lang="zh-CN" altLang="en-US" sz="7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本地手工艺体验券</a:t>
            </a:r>
            <a:r>
              <a:rPr lang="en-US" altLang="zh-CN" sz="7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 + </a:t>
            </a:r>
            <a:r>
              <a:rPr lang="zh-CN" altLang="en-US" sz="7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特色陕菜晚餐）。</a:t>
            </a:r>
            <a:endParaRPr lang="en-US" altLang="zh-CN" sz="70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7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700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+mn-ea"/>
                <a:sym typeface="+mn-ea"/>
              </a:rPr>
              <a:t>餐饮特色化：大堂吧推出本地食材下午茶，定期举办主厨餐桌活动。</a:t>
            </a:r>
            <a:endParaRPr lang="zh-CN" altLang="en-US" sz="700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1" name="矩形 19"/>
          <p:cNvSpPr/>
          <p:nvPr>
            <p:custDataLst>
              <p:tags r:id="rId13"/>
            </p:custDataLst>
          </p:nvPr>
        </p:nvSpPr>
        <p:spPr>
          <a:xfrm>
            <a:off x="4875841" y="2932585"/>
            <a:ext cx="3578612" cy="350255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 fontScale="60000"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+mn-ea"/>
                <a:cs typeface="+mn-ea"/>
                <a:sym typeface="+mn-ea"/>
              </a:rPr>
              <a:t>04</a:t>
            </a:r>
            <a:endParaRPr lang="en-US" altLang="zh-CN" sz="3200" b="1" dirty="0">
              <a:solidFill>
                <a:schemeClr val="accent2">
                  <a:lumMod val="40000"/>
                  <a:lumOff val="6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48" name="直接连接符 47"/>
          <p:cNvCxnSpPr/>
          <p:nvPr>
            <p:custDataLst>
              <p:tags r:id="rId14"/>
            </p:custDataLst>
          </p:nvPr>
        </p:nvCxnSpPr>
        <p:spPr>
          <a:xfrm>
            <a:off x="4875841" y="3324834"/>
            <a:ext cx="3592664" cy="0"/>
          </a:xfrm>
          <a:prstGeom prst="line">
            <a:avLst/>
          </a:prstGeom>
          <a:ln w="12700">
            <a:solidFill>
              <a:schemeClr val="accent2">
                <a:alpha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矩形 21"/>
          <p:cNvSpPr/>
          <p:nvPr>
            <p:custDataLst>
              <p:tags r:id="rId15"/>
            </p:custDataLst>
          </p:nvPr>
        </p:nvSpPr>
        <p:spPr>
          <a:xfrm>
            <a:off x="4875841" y="3366349"/>
            <a:ext cx="3578813" cy="27672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600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“会聚成功”会议包</a:t>
            </a:r>
            <a:endParaRPr lang="zh-CN" altLang="en-US" sz="1600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7" name="矩形 26"/>
          <p:cNvSpPr/>
          <p:nvPr>
            <p:custDataLst>
              <p:tags r:id="rId16"/>
            </p:custDataLst>
          </p:nvPr>
        </p:nvSpPr>
        <p:spPr>
          <a:xfrm>
            <a:off x="4875841" y="3688929"/>
            <a:ext cx="3578813" cy="903406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模块化空间：采用灵活隔断会议室，提供标准化设备清单及技术专人支持。</a:t>
            </a:r>
            <a:endParaRPr lang="en-US" altLang="zh-CN" sz="7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一站式方案：推出“会议全包价”，涵盖场地、茶歇、午餐及客房优惠。</a:t>
            </a:r>
            <a:endParaRPr lang="en-US" altLang="zh-CN" sz="7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• </a:t>
            </a: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增值服务：免费欢迎横幅、会议专用网络、参会人员快速通道。</a:t>
            </a:r>
            <a:endParaRPr lang="zh-CN" altLang="en-US" sz="7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339502"/>
            <a:ext cx="467544" cy="3600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67544" y="340420"/>
            <a:ext cx="2011680" cy="406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产品包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详细设计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框 54"/>
          <p:cNvSpPr txBox="1"/>
          <p:nvPr/>
        </p:nvSpPr>
        <p:spPr>
          <a:xfrm>
            <a:off x="0" y="2148205"/>
            <a:ext cx="9143365" cy="7924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14000"/>
              </a:lnSpc>
            </a:pPr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营销策划：整合传播与精准触达</a:t>
            </a:r>
            <a:endParaRPr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0" y="1220470"/>
            <a:ext cx="9143365" cy="862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14000"/>
              </a:lnSpc>
            </a:pPr>
            <a:r>
              <a:rPr lang="en-US" altLang="zh-CN" sz="4400" b="1" dirty="0" smtClean="0">
                <a:solidFill>
                  <a:schemeClr val="accent1"/>
                </a:solidFill>
                <a:latin typeface="Century Gothic" panose="020B0502020202020204" pitchFamily="34" charset="0"/>
                <a:ea typeface="+mj-ea"/>
              </a:rPr>
              <a:t>PART </a:t>
            </a:r>
            <a:r>
              <a:rPr lang="en-US" altLang="zh-CN" sz="4400" b="1" dirty="0" smtClean="0">
                <a:solidFill>
                  <a:schemeClr val="accent1"/>
                </a:solidFill>
                <a:latin typeface="Century Gothic" panose="020B0502020202020204" pitchFamily="34" charset="0"/>
                <a:ea typeface="+mj-ea"/>
              </a:rPr>
              <a:t>02</a:t>
            </a:r>
            <a:endParaRPr lang="en-US" altLang="zh-CN" sz="4400" b="1" dirty="0">
              <a:solidFill>
                <a:schemeClr val="accent1"/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67" name="椭圆 13"/>
          <p:cNvSpPr/>
          <p:nvPr/>
        </p:nvSpPr>
        <p:spPr>
          <a:xfrm flipV="1">
            <a:off x="4276239" y="4005052"/>
            <a:ext cx="638628" cy="637737"/>
          </a:xfrm>
          <a:custGeom>
            <a:avLst/>
            <a:gdLst>
              <a:gd name="connsiteX0" fmla="*/ 303763 w 607427"/>
              <a:gd name="connsiteY0" fmla="*/ 152514 h 606580"/>
              <a:gd name="connsiteX1" fmla="*/ 187507 w 607427"/>
              <a:gd name="connsiteY1" fmla="*/ 268477 h 606580"/>
              <a:gd name="connsiteX2" fmla="*/ 257222 w 607427"/>
              <a:gd name="connsiteY2" fmla="*/ 268477 h 606580"/>
              <a:gd name="connsiteX3" fmla="*/ 257222 w 607427"/>
              <a:gd name="connsiteY3" fmla="*/ 454136 h 606580"/>
              <a:gd name="connsiteX4" fmla="*/ 350207 w 607427"/>
              <a:gd name="connsiteY4" fmla="*/ 454136 h 606580"/>
              <a:gd name="connsiteX5" fmla="*/ 350207 w 607427"/>
              <a:gd name="connsiteY5" fmla="*/ 268477 h 606580"/>
              <a:gd name="connsiteX6" fmla="*/ 419922 w 607427"/>
              <a:gd name="connsiteY6" fmla="*/ 268477 h 606580"/>
              <a:gd name="connsiteX7" fmla="*/ 303763 w 607427"/>
              <a:gd name="connsiteY7" fmla="*/ 113469 h 606580"/>
              <a:gd name="connsiteX8" fmla="*/ 331434 w 607427"/>
              <a:gd name="connsiteY8" fmla="*/ 124890 h 606580"/>
              <a:gd name="connsiteX9" fmla="*/ 447592 w 607427"/>
              <a:gd name="connsiteY9" fmla="*/ 240853 h 606580"/>
              <a:gd name="connsiteX10" fmla="*/ 456099 w 607427"/>
              <a:gd name="connsiteY10" fmla="*/ 283412 h 606580"/>
              <a:gd name="connsiteX11" fmla="*/ 419922 w 607427"/>
              <a:gd name="connsiteY11" fmla="*/ 307522 h 606580"/>
              <a:gd name="connsiteX12" fmla="*/ 389318 w 607427"/>
              <a:gd name="connsiteY12" fmla="*/ 307522 h 606580"/>
              <a:gd name="connsiteX13" fmla="*/ 389318 w 607427"/>
              <a:gd name="connsiteY13" fmla="*/ 454136 h 606580"/>
              <a:gd name="connsiteX14" fmla="*/ 350207 w 607427"/>
              <a:gd name="connsiteY14" fmla="*/ 493181 h 606580"/>
              <a:gd name="connsiteX15" fmla="*/ 257222 w 607427"/>
              <a:gd name="connsiteY15" fmla="*/ 493181 h 606580"/>
              <a:gd name="connsiteX16" fmla="*/ 218111 w 607427"/>
              <a:gd name="connsiteY16" fmla="*/ 454136 h 606580"/>
              <a:gd name="connsiteX17" fmla="*/ 218111 w 607427"/>
              <a:gd name="connsiteY17" fmla="*/ 307522 h 606580"/>
              <a:gd name="connsiteX18" fmla="*/ 187507 w 607427"/>
              <a:gd name="connsiteY18" fmla="*/ 307522 h 606580"/>
              <a:gd name="connsiteX19" fmla="*/ 151427 w 607427"/>
              <a:gd name="connsiteY19" fmla="*/ 283412 h 606580"/>
              <a:gd name="connsiteX20" fmla="*/ 159934 w 607427"/>
              <a:gd name="connsiteY20" fmla="*/ 240853 h 606580"/>
              <a:gd name="connsiteX21" fmla="*/ 276092 w 607427"/>
              <a:gd name="connsiteY21" fmla="*/ 124890 h 606580"/>
              <a:gd name="connsiteX22" fmla="*/ 303763 w 607427"/>
              <a:gd name="connsiteY22" fmla="*/ 113469 h 606580"/>
              <a:gd name="connsiteX23" fmla="*/ 303763 w 607427"/>
              <a:gd name="connsiteY23" fmla="*/ 39052 h 606580"/>
              <a:gd name="connsiteX24" fmla="*/ 39107 w 607427"/>
              <a:gd name="connsiteY24" fmla="*/ 303339 h 606580"/>
              <a:gd name="connsiteX25" fmla="*/ 303763 w 607427"/>
              <a:gd name="connsiteY25" fmla="*/ 567528 h 606580"/>
              <a:gd name="connsiteX26" fmla="*/ 568320 w 607427"/>
              <a:gd name="connsiteY26" fmla="*/ 303339 h 606580"/>
              <a:gd name="connsiteX27" fmla="*/ 303763 w 607427"/>
              <a:gd name="connsiteY27" fmla="*/ 39052 h 606580"/>
              <a:gd name="connsiteX28" fmla="*/ 303763 w 607427"/>
              <a:gd name="connsiteY28" fmla="*/ 0 h 606580"/>
              <a:gd name="connsiteX29" fmla="*/ 607427 w 607427"/>
              <a:gd name="connsiteY29" fmla="*/ 303339 h 606580"/>
              <a:gd name="connsiteX30" fmla="*/ 303763 w 607427"/>
              <a:gd name="connsiteY30" fmla="*/ 606580 h 606580"/>
              <a:gd name="connsiteX31" fmla="*/ 0 w 607427"/>
              <a:gd name="connsiteY31" fmla="*/ 303339 h 606580"/>
              <a:gd name="connsiteX32" fmla="*/ 303763 w 607427"/>
              <a:gd name="connsiteY32" fmla="*/ 0 h 60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07427" h="606580">
                <a:moveTo>
                  <a:pt x="303763" y="152514"/>
                </a:moveTo>
                <a:lnTo>
                  <a:pt x="187507" y="268477"/>
                </a:lnTo>
                <a:lnTo>
                  <a:pt x="257222" y="268477"/>
                </a:lnTo>
                <a:lnTo>
                  <a:pt x="257222" y="454136"/>
                </a:lnTo>
                <a:lnTo>
                  <a:pt x="350207" y="454136"/>
                </a:lnTo>
                <a:lnTo>
                  <a:pt x="350207" y="268477"/>
                </a:lnTo>
                <a:lnTo>
                  <a:pt x="419922" y="268477"/>
                </a:lnTo>
                <a:close/>
                <a:moveTo>
                  <a:pt x="303763" y="113469"/>
                </a:moveTo>
                <a:cubicBezTo>
                  <a:pt x="314127" y="113469"/>
                  <a:pt x="324101" y="117569"/>
                  <a:pt x="331434" y="124890"/>
                </a:cubicBezTo>
                <a:lnTo>
                  <a:pt x="447592" y="240853"/>
                </a:lnTo>
                <a:cubicBezTo>
                  <a:pt x="458739" y="252079"/>
                  <a:pt x="462063" y="268868"/>
                  <a:pt x="456099" y="283412"/>
                </a:cubicBezTo>
                <a:cubicBezTo>
                  <a:pt x="450037" y="298054"/>
                  <a:pt x="435761" y="307522"/>
                  <a:pt x="419922" y="307522"/>
                </a:cubicBezTo>
                <a:lnTo>
                  <a:pt x="389318" y="307522"/>
                </a:lnTo>
                <a:lnTo>
                  <a:pt x="389318" y="454136"/>
                </a:lnTo>
                <a:cubicBezTo>
                  <a:pt x="389318" y="475611"/>
                  <a:pt x="371816" y="493181"/>
                  <a:pt x="350207" y="493181"/>
                </a:cubicBezTo>
                <a:lnTo>
                  <a:pt x="257222" y="493181"/>
                </a:lnTo>
                <a:cubicBezTo>
                  <a:pt x="235613" y="493181"/>
                  <a:pt x="218111" y="475611"/>
                  <a:pt x="218111" y="454136"/>
                </a:cubicBezTo>
                <a:lnTo>
                  <a:pt x="218111" y="307522"/>
                </a:lnTo>
                <a:lnTo>
                  <a:pt x="187507" y="307522"/>
                </a:lnTo>
                <a:cubicBezTo>
                  <a:pt x="171765" y="307522"/>
                  <a:pt x="157490" y="298054"/>
                  <a:pt x="151427" y="283412"/>
                </a:cubicBezTo>
                <a:cubicBezTo>
                  <a:pt x="145365" y="268868"/>
                  <a:pt x="148690" y="252079"/>
                  <a:pt x="159934" y="240853"/>
                </a:cubicBezTo>
                <a:lnTo>
                  <a:pt x="276092" y="124890"/>
                </a:lnTo>
                <a:cubicBezTo>
                  <a:pt x="283426" y="117569"/>
                  <a:pt x="293399" y="113469"/>
                  <a:pt x="303763" y="113469"/>
                </a:cubicBezTo>
                <a:close/>
                <a:moveTo>
                  <a:pt x="303763" y="39052"/>
                </a:moveTo>
                <a:cubicBezTo>
                  <a:pt x="157796" y="39052"/>
                  <a:pt x="39107" y="157576"/>
                  <a:pt x="39107" y="303339"/>
                </a:cubicBezTo>
                <a:cubicBezTo>
                  <a:pt x="39107" y="449004"/>
                  <a:pt x="157796" y="567528"/>
                  <a:pt x="303763" y="567528"/>
                </a:cubicBezTo>
                <a:cubicBezTo>
                  <a:pt x="449631" y="567528"/>
                  <a:pt x="568320" y="449004"/>
                  <a:pt x="568320" y="303339"/>
                </a:cubicBezTo>
                <a:cubicBezTo>
                  <a:pt x="568320" y="157576"/>
                  <a:pt x="449631" y="39052"/>
                  <a:pt x="303763" y="39052"/>
                </a:cubicBezTo>
                <a:close/>
                <a:moveTo>
                  <a:pt x="303763" y="0"/>
                </a:moveTo>
                <a:cubicBezTo>
                  <a:pt x="471629" y="0"/>
                  <a:pt x="607427" y="135707"/>
                  <a:pt x="607427" y="303339"/>
                </a:cubicBezTo>
                <a:cubicBezTo>
                  <a:pt x="607427" y="470971"/>
                  <a:pt x="471629" y="606580"/>
                  <a:pt x="303763" y="606580"/>
                </a:cubicBezTo>
                <a:cubicBezTo>
                  <a:pt x="135798" y="606580"/>
                  <a:pt x="0" y="470971"/>
                  <a:pt x="0" y="303339"/>
                </a:cubicBezTo>
                <a:cubicBezTo>
                  <a:pt x="0" y="135609"/>
                  <a:pt x="135896" y="0"/>
                  <a:pt x="30376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/>
      <p:bldP spid="6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21970" y="269875"/>
            <a:ext cx="6885940" cy="348615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2665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整合营销传播矩阵</a:t>
            </a:r>
            <a:endParaRPr lang="zh-CN" altLang="en-US" sz="2665" b="1" dirty="0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3769995" y="3920490"/>
            <a:ext cx="4656296" cy="714851"/>
          </a:xfrm>
          <a:prstGeom prst="rect">
            <a:avLst/>
          </a:prstGeom>
          <a:noFill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–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邀请旅游、亲子类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KOL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进行体验评测；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l">
              <a:lnSpc>
                <a:spcPct val="120000"/>
              </a:lnSpc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–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与本地品牌、艺术家合作，推出联名主题房或限定下午茶，共享客群；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algn="l">
              <a:lnSpc>
                <a:spcPct val="120000"/>
              </a:lnSpc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–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和当地景区合作推出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联合票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3770200" y="3469610"/>
            <a:ext cx="4656295" cy="435624"/>
          </a:xfrm>
          <a:prstGeom prst="rect">
            <a:avLst/>
          </a:prstGeom>
          <a:noFill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0" tIns="0" rIns="0" bIns="2700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accent3"/>
                </a:solidFill>
                <a:sym typeface="+mn-ea"/>
              </a:rPr>
              <a:t>公关与跨界合作</a:t>
            </a:r>
            <a:endParaRPr lang="zh-CN" altLang="en-US" sz="1600" b="1" dirty="0">
              <a:solidFill>
                <a:schemeClr val="accent3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3769995" y="1538288"/>
            <a:ext cx="4656296" cy="714851"/>
          </a:xfrm>
          <a:prstGeom prst="rect">
            <a:avLst/>
          </a:prstGeom>
          <a:noFill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–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微信公众号：发布深度内容与会员互动，建立品牌调性；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–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小红书：主打生活方式种草与美图打卡，话题如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#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西安高新宝藏酒店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#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；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–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抖音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/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视频号：发布短视频展示酒店场景与活动预告。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3770200" y="1093123"/>
            <a:ext cx="4656295" cy="435624"/>
          </a:xfrm>
          <a:prstGeom prst="rect">
            <a:avLst/>
          </a:prstGeom>
          <a:noFill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0" tIns="0" rIns="0" bIns="2700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accent3"/>
                </a:solidFill>
                <a:sym typeface="+mn-ea"/>
              </a:rPr>
              <a:t>内容营销矩阵</a:t>
            </a:r>
            <a:endParaRPr lang="zh-CN" altLang="en-US" sz="1600" b="1" dirty="0">
              <a:solidFill>
                <a:schemeClr val="accent3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3769995" y="2729389"/>
            <a:ext cx="4656296" cy="714851"/>
          </a:xfrm>
          <a:prstGeom prst="rect">
            <a:avLst/>
          </a:prstGeom>
          <a:noFill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–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针对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OTA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及社交媒体细分人群进行精准投放；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–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优化官网及内容页面的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SEO 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关键词排名。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3770200" y="2281367"/>
            <a:ext cx="4656295" cy="435624"/>
          </a:xfrm>
          <a:prstGeom prst="rect">
            <a:avLst/>
          </a:prstGeom>
          <a:noFill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0" tIns="0" rIns="0" bIns="27000" rtlCol="0" anchor="b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600" dirty="0">
                <a:solidFill>
                  <a:schemeClr val="accent3"/>
                </a:solidFill>
                <a:sym typeface="+mn-ea"/>
              </a:rPr>
              <a:t>数字广告与</a:t>
            </a:r>
            <a:r>
              <a:rPr lang="en-US" altLang="zh-CN" sz="1600" dirty="0">
                <a:solidFill>
                  <a:schemeClr val="accent3"/>
                </a:solidFill>
                <a:sym typeface="+mn-ea"/>
              </a:rPr>
              <a:t> SEO</a:t>
            </a:r>
            <a:endParaRPr lang="en-US" altLang="zh-CN" sz="1600" b="1" dirty="0">
              <a:solidFill>
                <a:schemeClr val="accent3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7" name="任意多边形: 形状 26"/>
          <p:cNvSpPr/>
          <p:nvPr>
            <p:custDataLst>
              <p:tags r:id="rId8"/>
            </p:custDataLst>
          </p:nvPr>
        </p:nvSpPr>
        <p:spPr>
          <a:xfrm>
            <a:off x="735089" y="1297417"/>
            <a:ext cx="2379434" cy="3132000"/>
          </a:xfrm>
          <a:custGeom>
            <a:avLst/>
            <a:gdLst>
              <a:gd name="connsiteX0" fmla="*/ 1084579 w 3172579"/>
              <a:gd name="connsiteY0" fmla="*/ 0 h 4176000"/>
              <a:gd name="connsiteX1" fmla="*/ 3172579 w 3172579"/>
              <a:gd name="connsiteY1" fmla="*/ 2088000 h 4176000"/>
              <a:gd name="connsiteX2" fmla="*/ 1084579 w 3172579"/>
              <a:gd name="connsiteY2" fmla="*/ 4176000 h 4176000"/>
              <a:gd name="connsiteX3" fmla="*/ 89315 w 3172579"/>
              <a:gd name="connsiteY3" fmla="*/ 3923990 h 4176000"/>
              <a:gd name="connsiteX4" fmla="*/ 0 w 3172579"/>
              <a:gd name="connsiteY4" fmla="*/ 3869730 h 4176000"/>
              <a:gd name="connsiteX5" fmla="*/ 0 w 3172579"/>
              <a:gd name="connsiteY5" fmla="*/ 306270 h 4176000"/>
              <a:gd name="connsiteX6" fmla="*/ 89315 w 3172579"/>
              <a:gd name="connsiteY6" fmla="*/ 252010 h 4176000"/>
              <a:gd name="connsiteX7" fmla="*/ 1084579 w 3172579"/>
              <a:gd name="connsiteY7" fmla="*/ 0 h 41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72579" h="4176000">
                <a:moveTo>
                  <a:pt x="1084579" y="0"/>
                </a:moveTo>
                <a:cubicBezTo>
                  <a:pt x="2237750" y="0"/>
                  <a:pt x="3172579" y="934829"/>
                  <a:pt x="3172579" y="2088000"/>
                </a:cubicBezTo>
                <a:cubicBezTo>
                  <a:pt x="3172579" y="3241171"/>
                  <a:pt x="2237750" y="4176000"/>
                  <a:pt x="1084579" y="4176000"/>
                </a:cubicBezTo>
                <a:cubicBezTo>
                  <a:pt x="724213" y="4176000"/>
                  <a:pt x="385170" y="4084708"/>
                  <a:pt x="89315" y="3923990"/>
                </a:cubicBezTo>
                <a:lnTo>
                  <a:pt x="0" y="3869730"/>
                </a:lnTo>
                <a:lnTo>
                  <a:pt x="0" y="306270"/>
                </a:lnTo>
                <a:lnTo>
                  <a:pt x="89315" y="252010"/>
                </a:lnTo>
                <a:cubicBezTo>
                  <a:pt x="385170" y="91292"/>
                  <a:pt x="724213" y="0"/>
                  <a:pt x="1084579" y="0"/>
                </a:cubicBezTo>
                <a:close/>
              </a:path>
            </a:pathLst>
          </a:custGeom>
          <a:noFill/>
          <a:ln>
            <a:gradFill>
              <a:gsLst>
                <a:gs pos="100000">
                  <a:schemeClr val="tx1">
                    <a:lumMod val="50000"/>
                    <a:lumOff val="50000"/>
                    <a:alpha val="30000"/>
                  </a:schemeClr>
                </a:gs>
                <a:gs pos="15000">
                  <a:srgbClr val="FFFFFF">
                    <a:lumMod val="20000"/>
                    <a:lumOff val="80000"/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12" name="椭圆 11"/>
          <p:cNvSpPr/>
          <p:nvPr>
            <p:custDataLst>
              <p:tags r:id="rId9"/>
            </p:custDataLst>
          </p:nvPr>
        </p:nvSpPr>
        <p:spPr>
          <a:xfrm>
            <a:off x="2870523" y="2633103"/>
            <a:ext cx="455771" cy="455771"/>
          </a:xfrm>
          <a:prstGeom prst="ellipse">
            <a:avLst/>
          </a:prstGeom>
          <a:solidFill>
            <a:schemeClr val="accent2"/>
          </a:solidFill>
          <a:ln>
            <a:gradFill>
              <a:gsLst>
                <a:gs pos="37000">
                  <a:srgbClr val="FFFFFF"/>
                </a:gs>
                <a:gs pos="0">
                  <a:schemeClr val="accent2">
                    <a:lumMod val="20000"/>
                    <a:lumOff val="80000"/>
                  </a:schemeClr>
                </a:gs>
                <a:gs pos="100000">
                  <a:srgbClr val="FFFFFF"/>
                </a:gs>
                <a:gs pos="71000">
                  <a:schemeClr val="accent2">
                    <a:lumMod val="20000"/>
                    <a:lumOff val="80000"/>
                  </a:schemeClr>
                </a:gs>
              </a:gsLst>
              <a:lin ang="1578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05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105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3" name="椭圆 32"/>
          <p:cNvSpPr/>
          <p:nvPr>
            <p:custDataLst>
              <p:tags r:id="rId10"/>
            </p:custDataLst>
          </p:nvPr>
        </p:nvSpPr>
        <p:spPr>
          <a:xfrm>
            <a:off x="2448701" y="1542209"/>
            <a:ext cx="455771" cy="455771"/>
          </a:xfrm>
          <a:prstGeom prst="ellipse">
            <a:avLst/>
          </a:prstGeom>
          <a:solidFill>
            <a:schemeClr val="accent1"/>
          </a:solidFill>
          <a:ln>
            <a:gradFill>
              <a:gsLst>
                <a:gs pos="37000">
                  <a:srgbClr val="FFFFFF"/>
                </a:gs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FFFFFF"/>
                </a:gs>
                <a:gs pos="71000">
                  <a:schemeClr val="accent1">
                    <a:lumMod val="20000"/>
                    <a:lumOff val="80000"/>
                  </a:schemeClr>
                </a:gs>
              </a:gsLst>
              <a:lin ang="1578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34290" bIns="3429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05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105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4" name="椭圆 23"/>
          <p:cNvSpPr/>
          <p:nvPr>
            <p:custDataLst>
              <p:tags r:id="rId11"/>
            </p:custDataLst>
          </p:nvPr>
        </p:nvSpPr>
        <p:spPr>
          <a:xfrm>
            <a:off x="2448701" y="3723998"/>
            <a:ext cx="455771" cy="455771"/>
          </a:xfrm>
          <a:prstGeom prst="ellipse">
            <a:avLst/>
          </a:prstGeom>
          <a:solidFill>
            <a:schemeClr val="accent3"/>
          </a:solidFill>
          <a:ln>
            <a:gradFill>
              <a:gsLst>
                <a:gs pos="37000">
                  <a:srgbClr val="FFFFFF"/>
                </a:gs>
                <a:gs pos="0">
                  <a:schemeClr val="accent6">
                    <a:lumMod val="20000"/>
                    <a:lumOff val="80000"/>
                  </a:schemeClr>
                </a:gs>
                <a:gs pos="100000">
                  <a:srgbClr val="FFFFFF"/>
                </a:gs>
                <a:gs pos="71000">
                  <a:schemeClr val="accent3">
                    <a:lumMod val="20000"/>
                    <a:lumOff val="80000"/>
                  </a:schemeClr>
                </a:gs>
              </a:gsLst>
              <a:lin ang="162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05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105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椭圆 8"/>
          <p:cNvSpPr/>
          <p:nvPr>
            <p:custDataLst>
              <p:tags r:id="rId12"/>
            </p:custDataLst>
          </p:nvPr>
        </p:nvSpPr>
        <p:spPr>
          <a:xfrm>
            <a:off x="735088" y="2045585"/>
            <a:ext cx="1626870" cy="1626870"/>
          </a:xfrm>
          <a:prstGeom prst="ellipse">
            <a:avLst/>
          </a:prstGeom>
          <a:solidFill>
            <a:schemeClr val="accent1"/>
          </a:solidFill>
          <a:ln>
            <a:gradFill>
              <a:gsLst>
                <a:gs pos="37000">
                  <a:srgbClr val="FFFFFF"/>
                </a:gs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rgbClr val="FFFFFF"/>
                </a:gs>
                <a:gs pos="71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营销传播矩阵</a:t>
            </a:r>
            <a:endParaRPr lang="zh-CN" altLang="en-US" sz="1500" b="1" spc="150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9502"/>
            <a:ext cx="467544" cy="3600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67544" y="340420"/>
            <a:ext cx="2240280" cy="406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渠道管理与收益优化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7" name="平行四边形 76"/>
          <p:cNvSpPr/>
          <p:nvPr>
            <p:custDataLst>
              <p:tags r:id="rId1"/>
            </p:custDataLst>
          </p:nvPr>
        </p:nvSpPr>
        <p:spPr>
          <a:xfrm>
            <a:off x="4475454" y="1556607"/>
            <a:ext cx="4362349" cy="2714395"/>
          </a:xfrm>
          <a:prstGeom prst="parallelogram">
            <a:avLst>
              <a:gd name="adj" fmla="val 18173"/>
            </a:avLst>
          </a:prstGeom>
          <a:solidFill>
            <a:schemeClr val="accent2"/>
          </a:solidFill>
          <a:ln>
            <a:noFill/>
            <a:prstDash val="solid"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cs typeface="黑体" panose="02010609060101010101" charset="-122"/>
            </a:endParaRPr>
          </a:p>
        </p:txBody>
      </p:sp>
      <p:sp>
        <p:nvSpPr>
          <p:cNvPr id="78" name="平行四边形 77"/>
          <p:cNvSpPr/>
          <p:nvPr>
            <p:custDataLst>
              <p:tags r:id="rId2"/>
            </p:custDataLst>
          </p:nvPr>
        </p:nvSpPr>
        <p:spPr>
          <a:xfrm>
            <a:off x="280390" y="1556607"/>
            <a:ext cx="4362349" cy="2714395"/>
          </a:xfrm>
          <a:prstGeom prst="parallelogram">
            <a:avLst>
              <a:gd name="adj" fmla="val 18158"/>
            </a:avLst>
          </a:prstGeom>
          <a:solidFill>
            <a:schemeClr val="accent1"/>
          </a:solidFill>
          <a:ln>
            <a:noFill/>
            <a:prstDash val="solid"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cs typeface="黑体" panose="02010609060101010101" charset="-122"/>
            </a:endParaRPr>
          </a:p>
        </p:txBody>
      </p:sp>
      <p:sp>
        <p:nvSpPr>
          <p:cNvPr id="79" name="矩形: 圆角 39"/>
          <p:cNvSpPr/>
          <p:nvPr>
            <p:custDataLst>
              <p:tags r:id="rId3"/>
            </p:custDataLst>
          </p:nvPr>
        </p:nvSpPr>
        <p:spPr>
          <a:xfrm>
            <a:off x="1186516" y="2018631"/>
            <a:ext cx="2549101" cy="70697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  <a:prstDash val="solid"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zh-CN" altLang="en-US" sz="1600" b="1" dirty="0">
                <a:solidFill>
                  <a:schemeClr val="accent1"/>
                </a:solidFill>
                <a:latin typeface="+mn-ea"/>
                <a:cs typeface="黑体" panose="02010609060101010101" charset="-122"/>
              </a:rPr>
              <a:t>渠道多元化</a:t>
            </a:r>
            <a:endParaRPr lang="zh-CN" altLang="en-US" sz="1600" b="1" dirty="0">
              <a:solidFill>
                <a:schemeClr val="accent1"/>
              </a:solidFill>
              <a:latin typeface="+mn-ea"/>
              <a:cs typeface="黑体" panose="02010609060101010101" charset="-122"/>
            </a:endParaRPr>
          </a:p>
        </p:txBody>
      </p:sp>
      <p:sp>
        <p:nvSpPr>
          <p:cNvPr id="80" name="文本框 79"/>
          <p:cNvSpPr txBox="1"/>
          <p:nvPr>
            <p:custDataLst>
              <p:tags r:id="rId4"/>
            </p:custDataLst>
          </p:nvPr>
        </p:nvSpPr>
        <p:spPr>
          <a:xfrm>
            <a:off x="966457" y="2890902"/>
            <a:ext cx="2989220" cy="1155062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90170" tIns="46990" rIns="90170" bIns="46990" rtlCol="0" anchor="t" anchorCtr="0">
            <a:noAutofit/>
          </a:bodyPr>
          <a:lstStyle>
            <a:lvl1pPr marL="228600" marR="0" lvl="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lvl="0" algn="l">
              <a:buClrTx/>
              <a:buSzTx/>
              <a:buNone/>
            </a:pPr>
            <a:r>
              <a:rPr lang="en-US" altLang="en-US" sz="600" spc="13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ea typeface="+mn-ea"/>
                <a:sym typeface="+mn-ea"/>
              </a:rPr>
              <a:t>– </a:t>
            </a:r>
            <a:r>
              <a:rPr lang="zh-CN" altLang="en-US" sz="600" spc="13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ea typeface="+mn-ea"/>
                <a:sym typeface="+mn-ea"/>
              </a:rPr>
              <a:t>直销优先：通过官网</a:t>
            </a:r>
            <a:r>
              <a:rPr lang="en-US" altLang="zh-CN" sz="600" spc="13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ea typeface="+mn-ea"/>
                <a:sym typeface="+mn-ea"/>
              </a:rPr>
              <a:t>/</a:t>
            </a:r>
            <a:r>
              <a:rPr lang="zh-CN" altLang="en-US" sz="600" spc="13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ea typeface="+mn-ea"/>
                <a:sym typeface="+mn-ea"/>
              </a:rPr>
              <a:t>小程序提供独家优惠（如免费升级），激励直订，降低佣金。</a:t>
            </a:r>
            <a:endParaRPr lang="en-US" altLang="zh-CN" sz="600" spc="130" dirty="0">
              <a:ln>
                <a:noFill/>
                <a:prstDash val="sysDot"/>
              </a:ln>
              <a:solidFill>
                <a:srgbClr val="FFFFFF"/>
              </a:solidFill>
              <a:latin typeface="+mn-ea"/>
              <a:ea typeface="+mn-ea"/>
              <a:sym typeface="+mn-ea"/>
            </a:endParaRPr>
          </a:p>
          <a:p>
            <a:pPr marL="0" lvl="0" algn="l">
              <a:buClrTx/>
              <a:buSzTx/>
              <a:buNone/>
            </a:pPr>
            <a:r>
              <a:rPr lang="en-US" altLang="zh-CN" sz="600" spc="13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ea typeface="+mn-ea"/>
                <a:sym typeface="+mn-ea"/>
              </a:rPr>
              <a:t>– </a:t>
            </a:r>
            <a:r>
              <a:rPr lang="zh-CN" altLang="en-US" sz="600" spc="13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ea typeface="+mn-ea"/>
                <a:sym typeface="+mn-ea"/>
              </a:rPr>
              <a:t>间接渠道优化：与</a:t>
            </a:r>
            <a:r>
              <a:rPr lang="en-US" altLang="zh-CN" sz="600" spc="13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ea typeface="+mn-ea"/>
                <a:sym typeface="+mn-ea"/>
              </a:rPr>
              <a:t> OTA </a:t>
            </a:r>
            <a:r>
              <a:rPr lang="zh-CN" altLang="en-US" sz="600" spc="13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ea typeface="+mn-ea"/>
                <a:sym typeface="+mn-ea"/>
              </a:rPr>
              <a:t>保持合作获取流量，但通过“</a:t>
            </a:r>
            <a:r>
              <a:rPr lang="en-US" altLang="zh-CN" sz="600" spc="13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ea typeface="+mn-ea"/>
                <a:sym typeface="+mn-ea"/>
              </a:rPr>
              <a:t>OTA </a:t>
            </a:r>
            <a:r>
              <a:rPr lang="zh-CN" altLang="en-US" sz="600" spc="13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ea typeface="+mn-ea"/>
                <a:sym typeface="+mn-ea"/>
              </a:rPr>
              <a:t>专享套餐”等差异化</a:t>
            </a:r>
            <a:r>
              <a:rPr lang="zh-CN" altLang="zh-CN" sz="600" spc="13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ea typeface="+mn-ea"/>
                <a:sym typeface="+mn-ea"/>
              </a:rPr>
              <a:t>产品管理渠道冲突。</a:t>
            </a:r>
            <a:endParaRPr lang="en-US" altLang="zh-CN" sz="600" spc="130" dirty="0">
              <a:ln>
                <a:noFill/>
                <a:prstDash val="sysDot"/>
              </a:ln>
              <a:solidFill>
                <a:srgbClr val="FFFFFF"/>
              </a:solidFill>
              <a:latin typeface="+mn-ea"/>
              <a:ea typeface="+mn-ea"/>
              <a:sym typeface="+mn-ea"/>
            </a:endParaRPr>
          </a:p>
          <a:p>
            <a:pPr marL="0" lvl="0" algn="l">
              <a:buClrTx/>
              <a:buSzTx/>
              <a:buNone/>
            </a:pPr>
            <a:r>
              <a:rPr lang="en-US" altLang="zh-CN" sz="600" spc="13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ea typeface="+mn-ea"/>
                <a:sym typeface="+mn-ea"/>
              </a:rPr>
              <a:t>– B </a:t>
            </a:r>
            <a:r>
              <a:rPr lang="zh-CN" altLang="en-US" sz="600" spc="13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ea typeface="+mn-ea"/>
                <a:sym typeface="+mn-ea"/>
              </a:rPr>
              <a:t>端拓展：发展企业客户直签与旅行社合作。</a:t>
            </a:r>
            <a:endParaRPr lang="zh-CN" altLang="en-US" sz="600" spc="130" dirty="0">
              <a:ln>
                <a:noFill/>
                <a:prstDash val="sysDot"/>
              </a:ln>
              <a:solidFill>
                <a:srgbClr val="FFFFFF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81" name="矩形: 圆角 39"/>
          <p:cNvSpPr/>
          <p:nvPr>
            <p:custDataLst>
              <p:tags r:id="rId5"/>
            </p:custDataLst>
          </p:nvPr>
        </p:nvSpPr>
        <p:spPr>
          <a:xfrm>
            <a:off x="5381580" y="2018631"/>
            <a:ext cx="2549101" cy="70697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  <a:prstDash val="solid"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+mn-ea"/>
                <a:cs typeface="黑体" panose="02010609060101010101" charset="-122"/>
              </a:rPr>
              <a:t>动态定价策略</a:t>
            </a:r>
            <a:endParaRPr lang="zh-CN" altLang="en-US" sz="1600" b="1" dirty="0">
              <a:solidFill>
                <a:schemeClr val="accent2"/>
              </a:solidFill>
              <a:latin typeface="+mn-ea"/>
              <a:cs typeface="黑体" panose="02010609060101010101" charset="-122"/>
            </a:endParaRPr>
          </a:p>
        </p:txBody>
      </p:sp>
      <p:sp>
        <p:nvSpPr>
          <p:cNvPr id="82" name="文本框 81"/>
          <p:cNvSpPr txBox="1"/>
          <p:nvPr>
            <p:custDataLst>
              <p:tags r:id="rId6"/>
            </p:custDataLst>
          </p:nvPr>
        </p:nvSpPr>
        <p:spPr>
          <a:xfrm>
            <a:off x="4995545" y="2891155"/>
            <a:ext cx="3319145" cy="115506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90170" tIns="46990" rIns="90170" bIns="46990" rtlCol="0" anchor="t" anchorCtr="0">
            <a:noAutofit/>
          </a:bodyPr>
          <a:lstStyle>
            <a:lvl1pPr marL="228600" marR="0" lvl="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lvl="0" algn="l">
              <a:buClrTx/>
              <a:buSzTx/>
              <a:buNone/>
            </a:pPr>
            <a:r>
              <a:rPr lang="zh-CN" altLang="en-US" sz="800" spc="13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ea typeface="+mn-ea"/>
                <a:sym typeface="+mn-ea"/>
              </a:rPr>
              <a:t>基于</a:t>
            </a:r>
            <a:r>
              <a:rPr lang="en-US" altLang="zh-CN" sz="800" spc="13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ea typeface="+mn-ea"/>
                <a:sym typeface="+mn-ea"/>
              </a:rPr>
              <a:t> PMS </a:t>
            </a:r>
            <a:r>
              <a:rPr lang="zh-CN" altLang="en-US" sz="800" spc="13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ea typeface="+mn-ea"/>
                <a:sym typeface="+mn-ea"/>
              </a:rPr>
              <a:t>与竞品数据（历史同期、预订进度、本</a:t>
            </a:r>
            <a:r>
              <a:rPr lang="zh-CN" altLang="en-US" sz="800" spc="13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ea typeface="+mn-ea"/>
                <a:sym typeface="+mn-ea"/>
              </a:rPr>
              <a:t>地事件），对热门</a:t>
            </a:r>
            <a:r>
              <a:rPr lang="zh-CN" altLang="zh-CN" sz="800" spc="130" dirty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ea typeface="+mn-ea"/>
                <a:sym typeface="+mn-ea"/>
              </a:rPr>
              <a:t>产品包和旺季时段实行收益最大化管理</a:t>
            </a:r>
            <a:endParaRPr lang="zh-CN" altLang="zh-CN" sz="800" spc="130" dirty="0">
              <a:ln>
                <a:noFill/>
                <a:prstDash val="sysDot"/>
              </a:ln>
              <a:solidFill>
                <a:srgbClr val="FFFFFF"/>
              </a:solidFill>
              <a:latin typeface="+mn-ea"/>
              <a:ea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框 54"/>
          <p:cNvSpPr txBox="1"/>
          <p:nvPr/>
        </p:nvSpPr>
        <p:spPr>
          <a:xfrm>
            <a:off x="0" y="2148205"/>
            <a:ext cx="9143365" cy="7924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14000"/>
              </a:lnSpc>
            </a:pPr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数据驱动决策与跨部门协同</a:t>
            </a:r>
            <a:endParaRPr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35" y="1220470"/>
            <a:ext cx="9142730" cy="862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14000"/>
              </a:lnSpc>
            </a:pPr>
            <a:r>
              <a:rPr lang="en-US" altLang="zh-CN" sz="4400" b="1" dirty="0" smtClean="0">
                <a:solidFill>
                  <a:schemeClr val="accent1"/>
                </a:solidFill>
                <a:latin typeface="Century Gothic" panose="020B0502020202020204" pitchFamily="34" charset="0"/>
                <a:ea typeface="+mj-ea"/>
              </a:rPr>
              <a:t>PART </a:t>
            </a:r>
            <a:r>
              <a:rPr lang="en-US" altLang="zh-CN" sz="4400" b="1" dirty="0" smtClean="0">
                <a:solidFill>
                  <a:schemeClr val="accent1"/>
                </a:solidFill>
                <a:latin typeface="Century Gothic" panose="020B0502020202020204" pitchFamily="34" charset="0"/>
                <a:ea typeface="+mj-ea"/>
              </a:rPr>
              <a:t>03</a:t>
            </a:r>
            <a:endParaRPr lang="en-US" altLang="zh-CN" sz="4400" b="1" dirty="0">
              <a:solidFill>
                <a:schemeClr val="accent1"/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67" name="椭圆 13"/>
          <p:cNvSpPr/>
          <p:nvPr/>
        </p:nvSpPr>
        <p:spPr>
          <a:xfrm flipV="1">
            <a:off x="4276239" y="4005052"/>
            <a:ext cx="638628" cy="637737"/>
          </a:xfrm>
          <a:custGeom>
            <a:avLst/>
            <a:gdLst>
              <a:gd name="connsiteX0" fmla="*/ 303763 w 607427"/>
              <a:gd name="connsiteY0" fmla="*/ 152514 h 606580"/>
              <a:gd name="connsiteX1" fmla="*/ 187507 w 607427"/>
              <a:gd name="connsiteY1" fmla="*/ 268477 h 606580"/>
              <a:gd name="connsiteX2" fmla="*/ 257222 w 607427"/>
              <a:gd name="connsiteY2" fmla="*/ 268477 h 606580"/>
              <a:gd name="connsiteX3" fmla="*/ 257222 w 607427"/>
              <a:gd name="connsiteY3" fmla="*/ 454136 h 606580"/>
              <a:gd name="connsiteX4" fmla="*/ 350207 w 607427"/>
              <a:gd name="connsiteY4" fmla="*/ 454136 h 606580"/>
              <a:gd name="connsiteX5" fmla="*/ 350207 w 607427"/>
              <a:gd name="connsiteY5" fmla="*/ 268477 h 606580"/>
              <a:gd name="connsiteX6" fmla="*/ 419922 w 607427"/>
              <a:gd name="connsiteY6" fmla="*/ 268477 h 606580"/>
              <a:gd name="connsiteX7" fmla="*/ 303763 w 607427"/>
              <a:gd name="connsiteY7" fmla="*/ 113469 h 606580"/>
              <a:gd name="connsiteX8" fmla="*/ 331434 w 607427"/>
              <a:gd name="connsiteY8" fmla="*/ 124890 h 606580"/>
              <a:gd name="connsiteX9" fmla="*/ 447592 w 607427"/>
              <a:gd name="connsiteY9" fmla="*/ 240853 h 606580"/>
              <a:gd name="connsiteX10" fmla="*/ 456099 w 607427"/>
              <a:gd name="connsiteY10" fmla="*/ 283412 h 606580"/>
              <a:gd name="connsiteX11" fmla="*/ 419922 w 607427"/>
              <a:gd name="connsiteY11" fmla="*/ 307522 h 606580"/>
              <a:gd name="connsiteX12" fmla="*/ 389318 w 607427"/>
              <a:gd name="connsiteY12" fmla="*/ 307522 h 606580"/>
              <a:gd name="connsiteX13" fmla="*/ 389318 w 607427"/>
              <a:gd name="connsiteY13" fmla="*/ 454136 h 606580"/>
              <a:gd name="connsiteX14" fmla="*/ 350207 w 607427"/>
              <a:gd name="connsiteY14" fmla="*/ 493181 h 606580"/>
              <a:gd name="connsiteX15" fmla="*/ 257222 w 607427"/>
              <a:gd name="connsiteY15" fmla="*/ 493181 h 606580"/>
              <a:gd name="connsiteX16" fmla="*/ 218111 w 607427"/>
              <a:gd name="connsiteY16" fmla="*/ 454136 h 606580"/>
              <a:gd name="connsiteX17" fmla="*/ 218111 w 607427"/>
              <a:gd name="connsiteY17" fmla="*/ 307522 h 606580"/>
              <a:gd name="connsiteX18" fmla="*/ 187507 w 607427"/>
              <a:gd name="connsiteY18" fmla="*/ 307522 h 606580"/>
              <a:gd name="connsiteX19" fmla="*/ 151427 w 607427"/>
              <a:gd name="connsiteY19" fmla="*/ 283412 h 606580"/>
              <a:gd name="connsiteX20" fmla="*/ 159934 w 607427"/>
              <a:gd name="connsiteY20" fmla="*/ 240853 h 606580"/>
              <a:gd name="connsiteX21" fmla="*/ 276092 w 607427"/>
              <a:gd name="connsiteY21" fmla="*/ 124890 h 606580"/>
              <a:gd name="connsiteX22" fmla="*/ 303763 w 607427"/>
              <a:gd name="connsiteY22" fmla="*/ 113469 h 606580"/>
              <a:gd name="connsiteX23" fmla="*/ 303763 w 607427"/>
              <a:gd name="connsiteY23" fmla="*/ 39052 h 606580"/>
              <a:gd name="connsiteX24" fmla="*/ 39107 w 607427"/>
              <a:gd name="connsiteY24" fmla="*/ 303339 h 606580"/>
              <a:gd name="connsiteX25" fmla="*/ 303763 w 607427"/>
              <a:gd name="connsiteY25" fmla="*/ 567528 h 606580"/>
              <a:gd name="connsiteX26" fmla="*/ 568320 w 607427"/>
              <a:gd name="connsiteY26" fmla="*/ 303339 h 606580"/>
              <a:gd name="connsiteX27" fmla="*/ 303763 w 607427"/>
              <a:gd name="connsiteY27" fmla="*/ 39052 h 606580"/>
              <a:gd name="connsiteX28" fmla="*/ 303763 w 607427"/>
              <a:gd name="connsiteY28" fmla="*/ 0 h 606580"/>
              <a:gd name="connsiteX29" fmla="*/ 607427 w 607427"/>
              <a:gd name="connsiteY29" fmla="*/ 303339 h 606580"/>
              <a:gd name="connsiteX30" fmla="*/ 303763 w 607427"/>
              <a:gd name="connsiteY30" fmla="*/ 606580 h 606580"/>
              <a:gd name="connsiteX31" fmla="*/ 0 w 607427"/>
              <a:gd name="connsiteY31" fmla="*/ 303339 h 606580"/>
              <a:gd name="connsiteX32" fmla="*/ 303763 w 607427"/>
              <a:gd name="connsiteY32" fmla="*/ 0 h 60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07427" h="606580">
                <a:moveTo>
                  <a:pt x="303763" y="152514"/>
                </a:moveTo>
                <a:lnTo>
                  <a:pt x="187507" y="268477"/>
                </a:lnTo>
                <a:lnTo>
                  <a:pt x="257222" y="268477"/>
                </a:lnTo>
                <a:lnTo>
                  <a:pt x="257222" y="454136"/>
                </a:lnTo>
                <a:lnTo>
                  <a:pt x="350207" y="454136"/>
                </a:lnTo>
                <a:lnTo>
                  <a:pt x="350207" y="268477"/>
                </a:lnTo>
                <a:lnTo>
                  <a:pt x="419922" y="268477"/>
                </a:lnTo>
                <a:close/>
                <a:moveTo>
                  <a:pt x="303763" y="113469"/>
                </a:moveTo>
                <a:cubicBezTo>
                  <a:pt x="314127" y="113469"/>
                  <a:pt x="324101" y="117569"/>
                  <a:pt x="331434" y="124890"/>
                </a:cubicBezTo>
                <a:lnTo>
                  <a:pt x="447592" y="240853"/>
                </a:lnTo>
                <a:cubicBezTo>
                  <a:pt x="458739" y="252079"/>
                  <a:pt x="462063" y="268868"/>
                  <a:pt x="456099" y="283412"/>
                </a:cubicBezTo>
                <a:cubicBezTo>
                  <a:pt x="450037" y="298054"/>
                  <a:pt x="435761" y="307522"/>
                  <a:pt x="419922" y="307522"/>
                </a:cubicBezTo>
                <a:lnTo>
                  <a:pt x="389318" y="307522"/>
                </a:lnTo>
                <a:lnTo>
                  <a:pt x="389318" y="454136"/>
                </a:lnTo>
                <a:cubicBezTo>
                  <a:pt x="389318" y="475611"/>
                  <a:pt x="371816" y="493181"/>
                  <a:pt x="350207" y="493181"/>
                </a:cubicBezTo>
                <a:lnTo>
                  <a:pt x="257222" y="493181"/>
                </a:lnTo>
                <a:cubicBezTo>
                  <a:pt x="235613" y="493181"/>
                  <a:pt x="218111" y="475611"/>
                  <a:pt x="218111" y="454136"/>
                </a:cubicBezTo>
                <a:lnTo>
                  <a:pt x="218111" y="307522"/>
                </a:lnTo>
                <a:lnTo>
                  <a:pt x="187507" y="307522"/>
                </a:lnTo>
                <a:cubicBezTo>
                  <a:pt x="171765" y="307522"/>
                  <a:pt x="157490" y="298054"/>
                  <a:pt x="151427" y="283412"/>
                </a:cubicBezTo>
                <a:cubicBezTo>
                  <a:pt x="145365" y="268868"/>
                  <a:pt x="148690" y="252079"/>
                  <a:pt x="159934" y="240853"/>
                </a:cubicBezTo>
                <a:lnTo>
                  <a:pt x="276092" y="124890"/>
                </a:lnTo>
                <a:cubicBezTo>
                  <a:pt x="283426" y="117569"/>
                  <a:pt x="293399" y="113469"/>
                  <a:pt x="303763" y="113469"/>
                </a:cubicBezTo>
                <a:close/>
                <a:moveTo>
                  <a:pt x="303763" y="39052"/>
                </a:moveTo>
                <a:cubicBezTo>
                  <a:pt x="157796" y="39052"/>
                  <a:pt x="39107" y="157576"/>
                  <a:pt x="39107" y="303339"/>
                </a:cubicBezTo>
                <a:cubicBezTo>
                  <a:pt x="39107" y="449004"/>
                  <a:pt x="157796" y="567528"/>
                  <a:pt x="303763" y="567528"/>
                </a:cubicBezTo>
                <a:cubicBezTo>
                  <a:pt x="449631" y="567528"/>
                  <a:pt x="568320" y="449004"/>
                  <a:pt x="568320" y="303339"/>
                </a:cubicBezTo>
                <a:cubicBezTo>
                  <a:pt x="568320" y="157576"/>
                  <a:pt x="449631" y="39052"/>
                  <a:pt x="303763" y="39052"/>
                </a:cubicBezTo>
                <a:close/>
                <a:moveTo>
                  <a:pt x="303763" y="0"/>
                </a:moveTo>
                <a:cubicBezTo>
                  <a:pt x="471629" y="0"/>
                  <a:pt x="607427" y="135707"/>
                  <a:pt x="607427" y="303339"/>
                </a:cubicBezTo>
                <a:cubicBezTo>
                  <a:pt x="607427" y="470971"/>
                  <a:pt x="471629" y="606580"/>
                  <a:pt x="303763" y="606580"/>
                </a:cubicBezTo>
                <a:cubicBezTo>
                  <a:pt x="135798" y="606580"/>
                  <a:pt x="0" y="470971"/>
                  <a:pt x="0" y="303339"/>
                </a:cubicBezTo>
                <a:cubicBezTo>
                  <a:pt x="0" y="135609"/>
                  <a:pt x="135896" y="0"/>
                  <a:pt x="30376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/>
      <p:bldP spid="6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9502"/>
            <a:ext cx="467544" cy="3600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67544" y="340420"/>
            <a:ext cx="1554480" cy="406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数据分析体系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矩形 47"/>
          <p:cNvSpPr>
            <a:spLocks noChangeArrowheads="1"/>
          </p:cNvSpPr>
          <p:nvPr/>
        </p:nvSpPr>
        <p:spPr bwMode="auto">
          <a:xfrm>
            <a:off x="738773" y="915710"/>
            <a:ext cx="7598367" cy="386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2" tIns="34277" rIns="68552" bIns="3427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600" dirty="0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  <a:sym typeface="微软雅黑" panose="020B0503020204020204" pitchFamily="34" charset="-122"/>
              </a:rPr>
              <a:t>数据是产品与营销优化的罗盘，建立系统化的数据收集、分析与应用体系</a:t>
            </a:r>
            <a:endParaRPr lang="zh-CN" altLang="en-US" sz="1600" dirty="0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807090" y="1973067"/>
            <a:ext cx="2079408" cy="28660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l"/>
            <a:r>
              <a:rPr lang="zh-CN" altLang="en-US" sz="2135" b="1">
                <a:solidFill>
                  <a:schemeClr val="accent1"/>
                </a:solidFill>
              </a:rPr>
              <a:t>数据源整合</a:t>
            </a:r>
            <a:endParaRPr lang="zh-CN" altLang="en-US" sz="2135" b="1">
              <a:solidFill>
                <a:schemeClr val="accent1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07568" y="2328567"/>
            <a:ext cx="2079408" cy="11899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0" algn="l" fontAlgn="auto">
              <a:lnSpc>
                <a:spcPct val="140000"/>
              </a:lnSpc>
            </a:pPr>
            <a:r>
              <a:rPr lang="zh-CN" altLang="en-US" sz="98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整合</a:t>
            </a:r>
            <a:r>
              <a:rPr lang="en-US" altLang="zh-CN" sz="98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 PMS</a:t>
            </a:r>
            <a:r>
              <a:rPr lang="zh-CN" altLang="en-US" sz="98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（经营数据）、</a:t>
            </a:r>
            <a:r>
              <a:rPr lang="en-US" altLang="zh-CN" sz="98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CRS</a:t>
            </a:r>
            <a:r>
              <a:rPr lang="zh-CN" altLang="en-US" sz="98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（预订数据）、会员数据及外部</a:t>
            </a:r>
            <a:r>
              <a:rPr lang="en-US" altLang="zh-CN" sz="98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 OTA </a:t>
            </a:r>
            <a:r>
              <a:rPr lang="zh-CN" altLang="en-US" sz="98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评分、</a:t>
            </a:r>
            <a:endParaRPr lang="en-US" altLang="zh-CN" sz="98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</a:pPr>
            <a:r>
              <a:rPr lang="zh-CN" altLang="zh-CN" sz="98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社交媒体提及量</a:t>
            </a:r>
            <a:endParaRPr lang="zh-CN" altLang="zh-CN" sz="98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3"/>
            </p:custDataLst>
          </p:nvPr>
        </p:nvSpPr>
        <p:spPr>
          <a:xfrm>
            <a:off x="3600846" y="1973067"/>
            <a:ext cx="2079408" cy="28660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l"/>
            <a:r>
              <a:rPr lang="zh-CN" altLang="en-US" sz="2135" b="1">
                <a:solidFill>
                  <a:schemeClr val="accent2"/>
                </a:solidFill>
              </a:rPr>
              <a:t>关键分析维度</a:t>
            </a:r>
            <a:endParaRPr lang="zh-CN" altLang="en-US" sz="2135" b="1">
              <a:solidFill>
                <a:schemeClr val="accent2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4"/>
            </p:custDataLst>
          </p:nvPr>
        </p:nvSpPr>
        <p:spPr>
          <a:xfrm>
            <a:off x="3601324" y="2328567"/>
            <a:ext cx="2079408" cy="11899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0" algn="l" fontAlgn="auto">
              <a:lnSpc>
                <a:spcPct val="140000"/>
              </a:lnSpc>
            </a:pPr>
            <a:r>
              <a:rPr lang="zh-CN" altLang="en-US" sz="98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客户画像：分析客源地、预订窗口期、消费偏好。</a:t>
            </a:r>
            <a:endParaRPr lang="en-US" altLang="zh-CN" sz="98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</a:pPr>
            <a:r>
              <a:rPr lang="zh-CN" altLang="en-US" sz="98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产品效能：追踪各产品包的预订量、收入贡献、</a:t>
            </a:r>
            <a:r>
              <a:rPr lang="en-US" altLang="zh-CN" sz="98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NPS</a:t>
            </a:r>
            <a:r>
              <a:rPr lang="zh-CN" altLang="en-US" sz="98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（净推荐值）及复购率。</a:t>
            </a:r>
            <a:endParaRPr lang="en-US" altLang="zh-CN" sz="98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</a:pPr>
            <a:r>
              <a:rPr lang="en-US" altLang="zh-CN" sz="98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ROI </a:t>
            </a:r>
            <a:r>
              <a:rPr lang="zh-CN" altLang="en-US" sz="98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评估：监测各营销渠道的转化率与成本。</a:t>
            </a:r>
            <a:endParaRPr lang="zh-CN" altLang="en-US" sz="98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cxnSp>
        <p:nvCxnSpPr>
          <p:cNvPr id="26" name="直接连接符 25"/>
          <p:cNvCxnSpPr/>
          <p:nvPr>
            <p:custDataLst>
              <p:tags r:id="rId5"/>
            </p:custDataLst>
          </p:nvPr>
        </p:nvCxnSpPr>
        <p:spPr>
          <a:xfrm>
            <a:off x="3243911" y="1936226"/>
            <a:ext cx="0" cy="161912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  <a:alpha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6"/>
            </p:custDataLst>
          </p:nvPr>
        </p:nvSpPr>
        <p:spPr>
          <a:xfrm>
            <a:off x="6394601" y="1973067"/>
            <a:ext cx="2079408" cy="28660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l"/>
            <a:r>
              <a:rPr lang="zh-CN" altLang="en-US" sz="2135" b="1">
                <a:solidFill>
                  <a:schemeClr val="accent1"/>
                </a:solidFill>
              </a:rPr>
              <a:t>报告机制</a:t>
            </a:r>
            <a:endParaRPr lang="zh-CN" altLang="en-US" sz="2135" b="1">
              <a:solidFill>
                <a:schemeClr val="accent1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6395080" y="2328567"/>
            <a:ext cx="2079408" cy="11899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0" algn="l" fontAlgn="auto">
              <a:lnSpc>
                <a:spcPct val="140000"/>
              </a:lnSpc>
            </a:pPr>
            <a:r>
              <a:rPr lang="zh-CN" altLang="en-US" sz="98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生成日报（核心数据）、周报（活动追踪）、月报（深度洞察），并通过可</a:t>
            </a:r>
            <a:endParaRPr lang="en-US" altLang="zh-CN" sz="98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</a:pPr>
            <a:r>
              <a:rPr lang="zh-CN" altLang="zh-CN" sz="98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视化看板供管理层实时查看。</a:t>
            </a:r>
            <a:endParaRPr lang="zh-CN" altLang="zh-CN" sz="98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8"/>
            </p:custDataLst>
          </p:nvPr>
        </p:nvCxnSpPr>
        <p:spPr>
          <a:xfrm>
            <a:off x="6037667" y="1936226"/>
            <a:ext cx="0" cy="161912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  <a:alpha val="1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9502"/>
            <a:ext cx="467544" cy="3600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67544" y="340420"/>
            <a:ext cx="1783080" cy="406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跨部门协同机制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直接连接符 5"/>
          <p:cNvCxnSpPr/>
          <p:nvPr>
            <p:custDataLst>
              <p:tags r:id="rId1"/>
            </p:custDataLst>
          </p:nvPr>
        </p:nvCxnSpPr>
        <p:spPr>
          <a:xfrm flipV="1">
            <a:off x="4553144" y="1275654"/>
            <a:ext cx="9525" cy="33623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oval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>
            <p:custDataLst>
              <p:tags r:id="rId2"/>
            </p:custDataLst>
          </p:nvPr>
        </p:nvSpPr>
        <p:spPr>
          <a:xfrm>
            <a:off x="4495169" y="1474898"/>
            <a:ext cx="135000" cy="135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508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4495169" y="2261065"/>
            <a:ext cx="135000" cy="135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508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>
            <p:custDataLst>
              <p:tags r:id="rId4"/>
            </p:custDataLst>
          </p:nvPr>
        </p:nvSpPr>
        <p:spPr>
          <a:xfrm>
            <a:off x="4495169" y="3047232"/>
            <a:ext cx="135000" cy="135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508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>
            <p:custDataLst>
              <p:tags r:id="rId5"/>
            </p:custDataLst>
          </p:nvPr>
        </p:nvSpPr>
        <p:spPr>
          <a:xfrm>
            <a:off x="4495169" y="3833400"/>
            <a:ext cx="135000" cy="135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508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6"/>
            </p:custDataLst>
          </p:nvPr>
        </p:nvGrpSpPr>
        <p:grpSpPr>
          <a:xfrm>
            <a:off x="526413" y="1376223"/>
            <a:ext cx="3815328" cy="332350"/>
            <a:chOff x="371346" y="1484141"/>
            <a:chExt cx="3753430" cy="503557"/>
          </a:xfrm>
          <a:solidFill>
            <a:schemeClr val="accent1"/>
          </a:solidFill>
        </p:grpSpPr>
        <p:sp>
          <p:nvSpPr>
            <p:cNvPr id="12" name="矩形 11"/>
            <p:cNvSpPr/>
            <p:nvPr>
              <p:custDataLst>
                <p:tags r:id="rId7"/>
              </p:custDataLst>
            </p:nvPr>
          </p:nvSpPr>
          <p:spPr>
            <a:xfrm>
              <a:off x="371346" y="1484141"/>
              <a:ext cx="3553540" cy="50355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5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联合项目组</a:t>
              </a:r>
              <a:endPara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>
              <p:custDataLst>
                <p:tags r:id="rId8"/>
              </p:custDataLst>
            </p:nvPr>
          </p:nvSpPr>
          <p:spPr>
            <a:xfrm rot="5400000">
              <a:off x="3908894" y="1635974"/>
              <a:ext cx="231874" cy="19989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526414" y="1798228"/>
            <a:ext cx="3612140" cy="679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630" indent="-214630">
              <a:lnSpc>
                <a:spcPct val="125000"/>
              </a:lnSpc>
              <a:spcBef>
                <a:spcPts val="450"/>
              </a:spcBef>
              <a:buFont typeface="Wingdings" panose="05000000000000000000" pitchFamily="2" charset="2"/>
              <a:buChar char="n"/>
            </a:pPr>
            <a:r>
              <a:rPr lang="zh-CN" altLang="en-US" sz="1015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针对重点产品包（如亲子包），成立由产品策划牵头，运营、销售、前厅、餐饮参与的临时项目组，负责全过程落地。</a:t>
            </a:r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>
            <p:custDataLst>
              <p:tags r:id="rId10"/>
            </p:custDataLst>
          </p:nvPr>
        </p:nvGrpSpPr>
        <p:grpSpPr>
          <a:xfrm>
            <a:off x="4869525" y="2140124"/>
            <a:ext cx="3815331" cy="332350"/>
            <a:chOff x="171453" y="1484141"/>
            <a:chExt cx="3753433" cy="503557"/>
          </a:xfrm>
          <a:solidFill>
            <a:schemeClr val="accent1"/>
          </a:solidFill>
        </p:grpSpPr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371346" y="1484141"/>
              <a:ext cx="3553540" cy="50355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5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定期协同会议</a:t>
              </a:r>
              <a:endPara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12"/>
              </p:custDataLst>
            </p:nvPr>
          </p:nvSpPr>
          <p:spPr>
            <a:xfrm rot="16200000" flipH="1">
              <a:off x="155462" y="1635976"/>
              <a:ext cx="231874" cy="19989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4883383" y="2562130"/>
            <a:ext cx="3612140" cy="933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630" indent="-214630">
              <a:lnSpc>
                <a:spcPct val="125000"/>
              </a:lnSpc>
              <a:spcBef>
                <a:spcPts val="450"/>
              </a:spcBef>
              <a:buFont typeface="Wingdings" panose="05000000000000000000" pitchFamily="2" charset="2"/>
              <a:buChar char="n"/>
            </a:pPr>
            <a:r>
              <a:rPr lang="en-US" altLang="zh-CN" sz="1015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– </a:t>
            </a:r>
            <a:r>
              <a:rPr lang="zh-CN" altLang="en-US" sz="1015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月度联席会：由市场部或总经理召集，回顾表现，同步计划，协调资源。</a:t>
            </a:r>
            <a:endParaRPr lang="en-US" altLang="zh-CN" sz="1015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14630" indent="-214630">
              <a:lnSpc>
                <a:spcPct val="125000"/>
              </a:lnSpc>
              <a:spcBef>
                <a:spcPts val="450"/>
              </a:spcBef>
              <a:buFont typeface="Wingdings" panose="05000000000000000000" pitchFamily="2" charset="2"/>
              <a:buChar char="n"/>
            </a:pPr>
            <a:r>
              <a:rPr lang="en-US" altLang="zh-CN" sz="1015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– </a:t>
            </a:r>
            <a:r>
              <a:rPr lang="zh-CN" altLang="en-US" sz="1015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周度运营沟通会：同步预订情况、团队信息及服务注意事项。</a:t>
            </a:r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4"/>
            </p:custDataLst>
          </p:nvPr>
        </p:nvGrpSpPr>
        <p:grpSpPr>
          <a:xfrm>
            <a:off x="526413" y="2924426"/>
            <a:ext cx="3815328" cy="332350"/>
            <a:chOff x="371346" y="1484141"/>
            <a:chExt cx="3753430" cy="503557"/>
          </a:xfrm>
          <a:solidFill>
            <a:schemeClr val="accent1"/>
          </a:solidFill>
        </p:grpSpPr>
        <p:sp>
          <p:nvSpPr>
            <p:cNvPr id="20" name="矩形 19"/>
            <p:cNvSpPr/>
            <p:nvPr>
              <p:custDataLst>
                <p:tags r:id="rId15"/>
              </p:custDataLst>
            </p:nvPr>
          </p:nvSpPr>
          <p:spPr>
            <a:xfrm>
              <a:off x="371346" y="1484141"/>
              <a:ext cx="3553540" cy="50355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5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部门联动要点</a:t>
              </a:r>
              <a:endPara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1" name="等腰三角形 20"/>
            <p:cNvSpPr/>
            <p:nvPr>
              <p:custDataLst>
                <p:tags r:id="rId16"/>
              </p:custDataLst>
            </p:nvPr>
          </p:nvSpPr>
          <p:spPr>
            <a:xfrm rot="5400000">
              <a:off x="3908894" y="1635974"/>
              <a:ext cx="231874" cy="19989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2" name="文本框 21"/>
          <p:cNvSpPr txBox="1"/>
          <p:nvPr>
            <p:custDataLst>
              <p:tags r:id="rId17"/>
            </p:custDataLst>
          </p:nvPr>
        </p:nvSpPr>
        <p:spPr>
          <a:xfrm>
            <a:off x="526414" y="3346432"/>
            <a:ext cx="3612140" cy="1187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630" indent="-214630">
              <a:lnSpc>
                <a:spcPct val="125000"/>
              </a:lnSpc>
              <a:spcBef>
                <a:spcPts val="450"/>
              </a:spcBef>
              <a:buFont typeface="Wingdings" panose="05000000000000000000" pitchFamily="2" charset="2"/>
              <a:buChar char="n"/>
            </a:pPr>
            <a:r>
              <a:rPr lang="zh-CN" altLang="en-US" sz="1015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与运营部：全员培训产品包卖点，落实特色服务（如儿童礼包）的</a:t>
            </a:r>
            <a:r>
              <a:rPr lang="en-US" altLang="zh-CN" sz="1015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SOP</a:t>
            </a:r>
            <a:r>
              <a:rPr lang="zh-CN" altLang="en-US" sz="1015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14630" indent="-214630">
              <a:lnSpc>
                <a:spcPct val="125000"/>
              </a:lnSpc>
              <a:spcBef>
                <a:spcPts val="450"/>
              </a:spcBef>
              <a:buFont typeface="Wingdings" panose="05000000000000000000" pitchFamily="2" charset="2"/>
              <a:buChar char="n"/>
            </a:pPr>
            <a:r>
              <a:rPr lang="zh-CN" altLang="en-US" sz="1015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与餐饮部：协同设计特色菜单，配合主题活动。</a:t>
            </a:r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214630" indent="-214630">
              <a:lnSpc>
                <a:spcPct val="125000"/>
              </a:lnSpc>
              <a:spcBef>
                <a:spcPts val="450"/>
              </a:spcBef>
              <a:buFont typeface="Wingdings" panose="05000000000000000000" pitchFamily="2" charset="2"/>
              <a:buChar char="n"/>
            </a:pPr>
            <a:r>
              <a:rPr lang="zh-CN" altLang="en-US" sz="1015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与销售部：及时反馈大客户个性化需求，同步最新销售政策。</a:t>
            </a:r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18"/>
            </p:custDataLst>
          </p:nvPr>
        </p:nvGrpSpPr>
        <p:grpSpPr>
          <a:xfrm>
            <a:off x="4869525" y="3688327"/>
            <a:ext cx="3815331" cy="332350"/>
            <a:chOff x="171453" y="1484141"/>
            <a:chExt cx="3753433" cy="503557"/>
          </a:xfrm>
          <a:solidFill>
            <a:schemeClr val="accent1"/>
          </a:solidFill>
        </p:grpSpPr>
        <p:sp>
          <p:nvSpPr>
            <p:cNvPr id="24" name="矩形 23"/>
            <p:cNvSpPr/>
            <p:nvPr>
              <p:custDataLst>
                <p:tags r:id="rId19"/>
              </p:custDataLst>
            </p:nvPr>
          </p:nvSpPr>
          <p:spPr>
            <a:xfrm>
              <a:off x="371346" y="1484141"/>
              <a:ext cx="3553540" cy="50355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5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绩效联动</a:t>
              </a:r>
              <a:endPara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等腰三角形 24"/>
            <p:cNvSpPr/>
            <p:nvPr>
              <p:custDataLst>
                <p:tags r:id="rId20"/>
              </p:custDataLst>
            </p:nvPr>
          </p:nvSpPr>
          <p:spPr>
            <a:xfrm rot="16200000" flipH="1">
              <a:off x="155462" y="1635976"/>
              <a:ext cx="231874" cy="19989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6" name="文本框 25"/>
          <p:cNvSpPr txBox="1"/>
          <p:nvPr>
            <p:custDataLst>
              <p:tags r:id="rId21"/>
            </p:custDataLst>
          </p:nvPr>
        </p:nvSpPr>
        <p:spPr>
          <a:xfrm>
            <a:off x="4883383" y="4110333"/>
            <a:ext cx="3612140" cy="48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630" indent="-214630">
              <a:lnSpc>
                <a:spcPct val="125000"/>
              </a:lnSpc>
              <a:spcBef>
                <a:spcPts val="450"/>
              </a:spcBef>
              <a:buFont typeface="Wingdings" panose="05000000000000000000" pitchFamily="2" charset="2"/>
              <a:buChar char="n"/>
            </a:pPr>
            <a:r>
              <a:rPr lang="zh-CN" altLang="en-US" sz="1015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将产品包销售比例、客户好评度纳入相关部门绩效考核，并给予一线员工即时激励</a:t>
            </a:r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807085"/>
            <a:ext cx="914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</a:rPr>
              <a:t>再完美的方案也需执行落地，建立高效协同机制是成功的保障</a:t>
            </a:r>
            <a:endParaRPr lang="zh-CN" altLang="en-US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515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15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015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794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8794"/>
                            </p:stCondLst>
                            <p:childTnLst>
                              <p:par>
                                <p:cTn id="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9794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1059"/>
                            </p:stCondLst>
                            <p:childTnLst>
                              <p:par>
                                <p:cTn id="4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59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059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4" grpId="0"/>
      <p:bldP spid="18" grpId="0"/>
      <p:bldP spid="22" grpId="0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框 54"/>
          <p:cNvSpPr txBox="1"/>
          <p:nvPr/>
        </p:nvSpPr>
        <p:spPr>
          <a:xfrm>
            <a:off x="0" y="2148205"/>
            <a:ext cx="9144000" cy="7924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14000"/>
              </a:lnSpc>
            </a:pPr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实施计划与预期成效</a:t>
            </a:r>
            <a:endParaRPr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35" y="1220470"/>
            <a:ext cx="9144000" cy="862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14000"/>
              </a:lnSpc>
            </a:pPr>
            <a:r>
              <a:rPr lang="en-US" altLang="zh-CN" sz="4400" b="1" dirty="0" smtClean="0">
                <a:solidFill>
                  <a:schemeClr val="accent1"/>
                </a:solidFill>
                <a:latin typeface="Century Gothic" panose="020B0502020202020204" pitchFamily="34" charset="0"/>
                <a:ea typeface="+mj-ea"/>
              </a:rPr>
              <a:t>PART </a:t>
            </a:r>
            <a:r>
              <a:rPr lang="en-US" altLang="zh-CN" sz="4400" b="1" dirty="0" smtClean="0">
                <a:solidFill>
                  <a:schemeClr val="accent1"/>
                </a:solidFill>
                <a:latin typeface="Century Gothic" panose="020B0502020202020204" pitchFamily="34" charset="0"/>
                <a:ea typeface="+mj-ea"/>
              </a:rPr>
              <a:t>04</a:t>
            </a:r>
            <a:endParaRPr lang="en-US" altLang="zh-CN" sz="4400" b="1" dirty="0">
              <a:solidFill>
                <a:schemeClr val="accent1"/>
              </a:solidFill>
              <a:latin typeface="Century Gothic" panose="020B0502020202020204" pitchFamily="34" charset="0"/>
              <a:ea typeface="+mj-ea"/>
            </a:endParaRPr>
          </a:p>
        </p:txBody>
      </p:sp>
      <p:sp>
        <p:nvSpPr>
          <p:cNvPr id="67" name="椭圆 13"/>
          <p:cNvSpPr/>
          <p:nvPr/>
        </p:nvSpPr>
        <p:spPr>
          <a:xfrm flipV="1">
            <a:off x="4276239" y="4005052"/>
            <a:ext cx="638628" cy="637737"/>
          </a:xfrm>
          <a:custGeom>
            <a:avLst/>
            <a:gdLst>
              <a:gd name="connsiteX0" fmla="*/ 303763 w 607427"/>
              <a:gd name="connsiteY0" fmla="*/ 152514 h 606580"/>
              <a:gd name="connsiteX1" fmla="*/ 187507 w 607427"/>
              <a:gd name="connsiteY1" fmla="*/ 268477 h 606580"/>
              <a:gd name="connsiteX2" fmla="*/ 257222 w 607427"/>
              <a:gd name="connsiteY2" fmla="*/ 268477 h 606580"/>
              <a:gd name="connsiteX3" fmla="*/ 257222 w 607427"/>
              <a:gd name="connsiteY3" fmla="*/ 454136 h 606580"/>
              <a:gd name="connsiteX4" fmla="*/ 350207 w 607427"/>
              <a:gd name="connsiteY4" fmla="*/ 454136 h 606580"/>
              <a:gd name="connsiteX5" fmla="*/ 350207 w 607427"/>
              <a:gd name="connsiteY5" fmla="*/ 268477 h 606580"/>
              <a:gd name="connsiteX6" fmla="*/ 419922 w 607427"/>
              <a:gd name="connsiteY6" fmla="*/ 268477 h 606580"/>
              <a:gd name="connsiteX7" fmla="*/ 303763 w 607427"/>
              <a:gd name="connsiteY7" fmla="*/ 113469 h 606580"/>
              <a:gd name="connsiteX8" fmla="*/ 331434 w 607427"/>
              <a:gd name="connsiteY8" fmla="*/ 124890 h 606580"/>
              <a:gd name="connsiteX9" fmla="*/ 447592 w 607427"/>
              <a:gd name="connsiteY9" fmla="*/ 240853 h 606580"/>
              <a:gd name="connsiteX10" fmla="*/ 456099 w 607427"/>
              <a:gd name="connsiteY10" fmla="*/ 283412 h 606580"/>
              <a:gd name="connsiteX11" fmla="*/ 419922 w 607427"/>
              <a:gd name="connsiteY11" fmla="*/ 307522 h 606580"/>
              <a:gd name="connsiteX12" fmla="*/ 389318 w 607427"/>
              <a:gd name="connsiteY12" fmla="*/ 307522 h 606580"/>
              <a:gd name="connsiteX13" fmla="*/ 389318 w 607427"/>
              <a:gd name="connsiteY13" fmla="*/ 454136 h 606580"/>
              <a:gd name="connsiteX14" fmla="*/ 350207 w 607427"/>
              <a:gd name="connsiteY14" fmla="*/ 493181 h 606580"/>
              <a:gd name="connsiteX15" fmla="*/ 257222 w 607427"/>
              <a:gd name="connsiteY15" fmla="*/ 493181 h 606580"/>
              <a:gd name="connsiteX16" fmla="*/ 218111 w 607427"/>
              <a:gd name="connsiteY16" fmla="*/ 454136 h 606580"/>
              <a:gd name="connsiteX17" fmla="*/ 218111 w 607427"/>
              <a:gd name="connsiteY17" fmla="*/ 307522 h 606580"/>
              <a:gd name="connsiteX18" fmla="*/ 187507 w 607427"/>
              <a:gd name="connsiteY18" fmla="*/ 307522 h 606580"/>
              <a:gd name="connsiteX19" fmla="*/ 151427 w 607427"/>
              <a:gd name="connsiteY19" fmla="*/ 283412 h 606580"/>
              <a:gd name="connsiteX20" fmla="*/ 159934 w 607427"/>
              <a:gd name="connsiteY20" fmla="*/ 240853 h 606580"/>
              <a:gd name="connsiteX21" fmla="*/ 276092 w 607427"/>
              <a:gd name="connsiteY21" fmla="*/ 124890 h 606580"/>
              <a:gd name="connsiteX22" fmla="*/ 303763 w 607427"/>
              <a:gd name="connsiteY22" fmla="*/ 113469 h 606580"/>
              <a:gd name="connsiteX23" fmla="*/ 303763 w 607427"/>
              <a:gd name="connsiteY23" fmla="*/ 39052 h 606580"/>
              <a:gd name="connsiteX24" fmla="*/ 39107 w 607427"/>
              <a:gd name="connsiteY24" fmla="*/ 303339 h 606580"/>
              <a:gd name="connsiteX25" fmla="*/ 303763 w 607427"/>
              <a:gd name="connsiteY25" fmla="*/ 567528 h 606580"/>
              <a:gd name="connsiteX26" fmla="*/ 568320 w 607427"/>
              <a:gd name="connsiteY26" fmla="*/ 303339 h 606580"/>
              <a:gd name="connsiteX27" fmla="*/ 303763 w 607427"/>
              <a:gd name="connsiteY27" fmla="*/ 39052 h 606580"/>
              <a:gd name="connsiteX28" fmla="*/ 303763 w 607427"/>
              <a:gd name="connsiteY28" fmla="*/ 0 h 606580"/>
              <a:gd name="connsiteX29" fmla="*/ 607427 w 607427"/>
              <a:gd name="connsiteY29" fmla="*/ 303339 h 606580"/>
              <a:gd name="connsiteX30" fmla="*/ 303763 w 607427"/>
              <a:gd name="connsiteY30" fmla="*/ 606580 h 606580"/>
              <a:gd name="connsiteX31" fmla="*/ 0 w 607427"/>
              <a:gd name="connsiteY31" fmla="*/ 303339 h 606580"/>
              <a:gd name="connsiteX32" fmla="*/ 303763 w 607427"/>
              <a:gd name="connsiteY32" fmla="*/ 0 h 60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07427" h="606580">
                <a:moveTo>
                  <a:pt x="303763" y="152514"/>
                </a:moveTo>
                <a:lnTo>
                  <a:pt x="187507" y="268477"/>
                </a:lnTo>
                <a:lnTo>
                  <a:pt x="257222" y="268477"/>
                </a:lnTo>
                <a:lnTo>
                  <a:pt x="257222" y="454136"/>
                </a:lnTo>
                <a:lnTo>
                  <a:pt x="350207" y="454136"/>
                </a:lnTo>
                <a:lnTo>
                  <a:pt x="350207" y="268477"/>
                </a:lnTo>
                <a:lnTo>
                  <a:pt x="419922" y="268477"/>
                </a:lnTo>
                <a:close/>
                <a:moveTo>
                  <a:pt x="303763" y="113469"/>
                </a:moveTo>
                <a:cubicBezTo>
                  <a:pt x="314127" y="113469"/>
                  <a:pt x="324101" y="117569"/>
                  <a:pt x="331434" y="124890"/>
                </a:cubicBezTo>
                <a:lnTo>
                  <a:pt x="447592" y="240853"/>
                </a:lnTo>
                <a:cubicBezTo>
                  <a:pt x="458739" y="252079"/>
                  <a:pt x="462063" y="268868"/>
                  <a:pt x="456099" y="283412"/>
                </a:cubicBezTo>
                <a:cubicBezTo>
                  <a:pt x="450037" y="298054"/>
                  <a:pt x="435761" y="307522"/>
                  <a:pt x="419922" y="307522"/>
                </a:cubicBezTo>
                <a:lnTo>
                  <a:pt x="389318" y="307522"/>
                </a:lnTo>
                <a:lnTo>
                  <a:pt x="389318" y="454136"/>
                </a:lnTo>
                <a:cubicBezTo>
                  <a:pt x="389318" y="475611"/>
                  <a:pt x="371816" y="493181"/>
                  <a:pt x="350207" y="493181"/>
                </a:cubicBezTo>
                <a:lnTo>
                  <a:pt x="257222" y="493181"/>
                </a:lnTo>
                <a:cubicBezTo>
                  <a:pt x="235613" y="493181"/>
                  <a:pt x="218111" y="475611"/>
                  <a:pt x="218111" y="454136"/>
                </a:cubicBezTo>
                <a:lnTo>
                  <a:pt x="218111" y="307522"/>
                </a:lnTo>
                <a:lnTo>
                  <a:pt x="187507" y="307522"/>
                </a:lnTo>
                <a:cubicBezTo>
                  <a:pt x="171765" y="307522"/>
                  <a:pt x="157490" y="298054"/>
                  <a:pt x="151427" y="283412"/>
                </a:cubicBezTo>
                <a:cubicBezTo>
                  <a:pt x="145365" y="268868"/>
                  <a:pt x="148690" y="252079"/>
                  <a:pt x="159934" y="240853"/>
                </a:cubicBezTo>
                <a:lnTo>
                  <a:pt x="276092" y="124890"/>
                </a:lnTo>
                <a:cubicBezTo>
                  <a:pt x="283426" y="117569"/>
                  <a:pt x="293399" y="113469"/>
                  <a:pt x="303763" y="113469"/>
                </a:cubicBezTo>
                <a:close/>
                <a:moveTo>
                  <a:pt x="303763" y="39052"/>
                </a:moveTo>
                <a:cubicBezTo>
                  <a:pt x="157796" y="39052"/>
                  <a:pt x="39107" y="157576"/>
                  <a:pt x="39107" y="303339"/>
                </a:cubicBezTo>
                <a:cubicBezTo>
                  <a:pt x="39107" y="449004"/>
                  <a:pt x="157796" y="567528"/>
                  <a:pt x="303763" y="567528"/>
                </a:cubicBezTo>
                <a:cubicBezTo>
                  <a:pt x="449631" y="567528"/>
                  <a:pt x="568320" y="449004"/>
                  <a:pt x="568320" y="303339"/>
                </a:cubicBezTo>
                <a:cubicBezTo>
                  <a:pt x="568320" y="157576"/>
                  <a:pt x="449631" y="39052"/>
                  <a:pt x="303763" y="39052"/>
                </a:cubicBezTo>
                <a:close/>
                <a:moveTo>
                  <a:pt x="303763" y="0"/>
                </a:moveTo>
                <a:cubicBezTo>
                  <a:pt x="471629" y="0"/>
                  <a:pt x="607427" y="135707"/>
                  <a:pt x="607427" y="303339"/>
                </a:cubicBezTo>
                <a:cubicBezTo>
                  <a:pt x="607427" y="470971"/>
                  <a:pt x="471629" y="606580"/>
                  <a:pt x="303763" y="606580"/>
                </a:cubicBezTo>
                <a:cubicBezTo>
                  <a:pt x="135798" y="606580"/>
                  <a:pt x="0" y="470971"/>
                  <a:pt x="0" y="303339"/>
                </a:cubicBezTo>
                <a:cubicBezTo>
                  <a:pt x="0" y="135609"/>
                  <a:pt x="135896" y="0"/>
                  <a:pt x="30376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/>
      <p:bldP spid="6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图形 64"/>
          <p:cNvSpPr/>
          <p:nvPr>
            <p:custDataLst>
              <p:tags r:id="rId1"/>
            </p:custDataLst>
          </p:nvPr>
        </p:nvSpPr>
        <p:spPr>
          <a:xfrm>
            <a:off x="-36830" y="555625"/>
            <a:ext cx="9154160" cy="2673350"/>
          </a:xfrm>
          <a:custGeom>
            <a:avLst/>
            <a:gdLst>
              <a:gd name="connsiteX0" fmla="*/ 0 w 12198350"/>
              <a:gd name="connsiteY0" fmla="*/ 0 h 3657599"/>
              <a:gd name="connsiteX1" fmla="*/ 10696702 w 12198350"/>
              <a:gd name="connsiteY1" fmla="*/ 0 h 3657599"/>
              <a:gd name="connsiteX2" fmla="*/ 11611102 w 12198350"/>
              <a:gd name="connsiteY2" fmla="*/ 914400 h 3657599"/>
              <a:gd name="connsiteX3" fmla="*/ 11611102 w 12198350"/>
              <a:gd name="connsiteY3" fmla="*/ 914400 h 3657599"/>
              <a:gd name="connsiteX4" fmla="*/ 10696702 w 12198350"/>
              <a:gd name="connsiteY4" fmla="*/ 1828800 h 3657599"/>
              <a:gd name="connsiteX5" fmla="*/ 1647952 w 12198350"/>
              <a:gd name="connsiteY5" fmla="*/ 1828800 h 3657599"/>
              <a:gd name="connsiteX6" fmla="*/ 733552 w 12198350"/>
              <a:gd name="connsiteY6" fmla="*/ 2743200 h 3657599"/>
              <a:gd name="connsiteX7" fmla="*/ 733552 w 12198350"/>
              <a:gd name="connsiteY7" fmla="*/ 2743200 h 3657599"/>
              <a:gd name="connsiteX8" fmla="*/ 1647952 w 12198350"/>
              <a:gd name="connsiteY8" fmla="*/ 3657600 h 3657599"/>
              <a:gd name="connsiteX9" fmla="*/ 12198350 w 12198350"/>
              <a:gd name="connsiteY9" fmla="*/ 3657600 h 3657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8350" h="3657599">
                <a:moveTo>
                  <a:pt x="0" y="0"/>
                </a:moveTo>
                <a:lnTo>
                  <a:pt x="10696702" y="0"/>
                </a:lnTo>
                <a:cubicBezTo>
                  <a:pt x="11201712" y="0"/>
                  <a:pt x="11611102" y="409391"/>
                  <a:pt x="11611102" y="914400"/>
                </a:cubicBezTo>
                <a:lnTo>
                  <a:pt x="11611102" y="914400"/>
                </a:lnTo>
                <a:cubicBezTo>
                  <a:pt x="11611102" y="1419409"/>
                  <a:pt x="11201712" y="1828800"/>
                  <a:pt x="10696702" y="1828800"/>
                </a:cubicBezTo>
                <a:lnTo>
                  <a:pt x="1647952" y="1828800"/>
                </a:lnTo>
                <a:cubicBezTo>
                  <a:pt x="1142943" y="1828800"/>
                  <a:pt x="733552" y="2238191"/>
                  <a:pt x="733552" y="2743200"/>
                </a:cubicBezTo>
                <a:lnTo>
                  <a:pt x="733552" y="2743200"/>
                </a:lnTo>
                <a:cubicBezTo>
                  <a:pt x="733552" y="3248209"/>
                  <a:pt x="1142943" y="3657600"/>
                  <a:pt x="1647952" y="3657600"/>
                </a:cubicBezTo>
                <a:lnTo>
                  <a:pt x="12198350" y="3657600"/>
                </a:lnTo>
              </a:path>
            </a:pathLst>
          </a:custGeom>
          <a:noFill/>
          <a:ln w="38100" cap="flat">
            <a:gradFill>
              <a:gsLst>
                <a:gs pos="0">
                  <a:schemeClr val="accent1">
                    <a:alpha val="100000"/>
                  </a:schemeClr>
                </a:gs>
                <a:gs pos="45000">
                  <a:schemeClr val="accent1">
                    <a:lumMod val="60000"/>
                    <a:lumOff val="40000"/>
                    <a:alpha val="100000"/>
                  </a:schemeClr>
                </a:gs>
                <a:gs pos="100000">
                  <a:schemeClr val="accent1">
                    <a:lumMod val="40000"/>
                    <a:lumOff val="60000"/>
                    <a:alpha val="100000"/>
                  </a:schemeClr>
                </a:gs>
              </a:gsLst>
              <a:lin ang="5400000" scaled="1"/>
            </a:gradFill>
            <a:prstDash val="solid"/>
            <a:miter/>
            <a:tailEnd type="triangle"/>
          </a:ln>
        </p:spPr>
        <p:txBody>
          <a:bodyPr rot="0" spcFirstLastPara="0" vertOverflow="overflow" horzOverflow="overflow" vert="horz" wrap="square" lIns="68544" tIns="34272" rIns="68544" bIns="34272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tx1"/>
              </a:solidFill>
            </a:endParaRPr>
          </a:p>
        </p:txBody>
      </p:sp>
      <p:sp useBgFill="1">
        <p:nvSpPr>
          <p:cNvPr id="163" name="椭圆 162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-174" y="482946"/>
            <a:ext cx="157340" cy="158663"/>
          </a:xfrm>
          <a:prstGeom prst="ellips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165" name="正文"/>
          <p:cNvSpPr txBox="1"/>
          <p:nvPr>
            <p:custDataLst>
              <p:tags r:id="rId3"/>
            </p:custDataLst>
          </p:nvPr>
        </p:nvSpPr>
        <p:spPr>
          <a:xfrm>
            <a:off x="35560" y="123190"/>
            <a:ext cx="3529330" cy="2159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</a:rPr>
              <a:t>第一阶段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</a:rPr>
              <a:t>启动期，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</a:rPr>
              <a:t>1~3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</a:rPr>
              <a:t>个月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</a:rPr>
              <a:t>)</a:t>
            </a:r>
            <a:endParaRPr lang="en-US" altLang="zh-CN"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</a:endParaRPr>
          </a:p>
        </p:txBody>
      </p:sp>
      <p:sp useBgFill="1">
        <p:nvSpPr>
          <p:cNvPr id="166" name="椭圆 165"/>
          <p:cNvSpPr>
            <a:spLocks noChangeAspect="1"/>
          </p:cNvSpPr>
          <p:nvPr>
            <p:custDataLst>
              <p:tags r:id="rId4"/>
            </p:custDataLst>
          </p:nvPr>
        </p:nvSpPr>
        <p:spPr>
          <a:xfrm flipH="1">
            <a:off x="8028555" y="1807495"/>
            <a:ext cx="157340" cy="158663"/>
          </a:xfrm>
          <a:prstGeom prst="ellips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168" name="正文"/>
          <p:cNvSpPr txBox="1"/>
          <p:nvPr>
            <p:custDataLst>
              <p:tags r:id="rId5"/>
            </p:custDataLst>
          </p:nvPr>
        </p:nvSpPr>
        <p:spPr>
          <a:xfrm>
            <a:off x="5658485" y="1635760"/>
            <a:ext cx="2259330" cy="1714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</a:rPr>
              <a:t>第二阶段</a:t>
            </a:r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</a:rPr>
              <a:t>推广期，</a:t>
            </a:r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</a:rPr>
              <a:t>4~6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</a:rPr>
              <a:t>个月</a:t>
            </a:r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</a:rPr>
              <a:t>)</a:t>
            </a:r>
            <a:endParaRPr lang="en-US" altLang="zh-CN" sz="14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</a:endParaRPr>
          </a:p>
        </p:txBody>
      </p:sp>
      <p:sp useBgFill="1">
        <p:nvSpPr>
          <p:cNvPr id="169" name="椭圆 16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929044" y="3147529"/>
            <a:ext cx="157340" cy="158663"/>
          </a:xfrm>
          <a:prstGeom prst="ellipse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171" name="正文"/>
          <p:cNvSpPr txBox="1"/>
          <p:nvPr>
            <p:custDataLst>
              <p:tags r:id="rId7"/>
            </p:custDataLst>
          </p:nvPr>
        </p:nvSpPr>
        <p:spPr>
          <a:xfrm>
            <a:off x="1086485" y="2860040"/>
            <a:ext cx="2414905" cy="2012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</a:rPr>
              <a:t>第三阶段</a:t>
            </a:r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</a:rPr>
              <a:t>深化期，</a:t>
            </a:r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</a:rPr>
              <a:t>7~12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</a:rPr>
              <a:t>个月</a:t>
            </a:r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</a:rPr>
              <a:t>)</a:t>
            </a:r>
            <a:endParaRPr lang="en-US" altLang="zh-CN" sz="14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212725" y="555625"/>
            <a:ext cx="7705090" cy="324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完成核心产品包（智享商旅）设计与培训，试点上线，建立基础数据看板</a:t>
            </a:r>
            <a:endParaRPr lang="zh-CN" altLang="en-US" sz="1400"/>
          </a:p>
        </p:txBody>
      </p:sp>
      <p:sp>
        <p:nvSpPr>
          <p:cNvPr id="174" name="文本框 173"/>
          <p:cNvSpPr txBox="1"/>
          <p:nvPr/>
        </p:nvSpPr>
        <p:spPr>
          <a:xfrm>
            <a:off x="107315" y="3796030"/>
            <a:ext cx="89928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预期成效：形成</a:t>
            </a:r>
            <a:r>
              <a:rPr lang="en-US" altLang="zh-CN"/>
              <a:t> 2-3 </a:t>
            </a:r>
            <a:r>
              <a:rPr lang="zh-CN" altLang="en-US"/>
              <a:t>个明星产品包，客单价提升</a:t>
            </a:r>
            <a:r>
              <a:rPr lang="en-US" altLang="zh-CN"/>
              <a:t> 10%-15%</a:t>
            </a:r>
            <a:r>
              <a:rPr lang="zh-CN" altLang="en-US"/>
              <a:t>；</a:t>
            </a:r>
            <a:endParaRPr lang="zh-CN" altLang="en-US"/>
          </a:p>
          <a:p>
            <a:r>
              <a:rPr lang="zh-CN" altLang="en-US"/>
              <a:t>直销渠道占比提升</a:t>
            </a:r>
            <a:r>
              <a:rPr lang="en-US" altLang="zh-CN"/>
              <a:t> 5%-10%</a:t>
            </a:r>
            <a:r>
              <a:rPr lang="zh-CN" altLang="en-US"/>
              <a:t>；</a:t>
            </a:r>
            <a:endParaRPr lang="zh-CN" altLang="en-US"/>
          </a:p>
          <a:p>
            <a:r>
              <a:rPr lang="zh-CN" altLang="en-US"/>
              <a:t>客户满意度（</a:t>
            </a:r>
            <a:r>
              <a:rPr lang="en-US" altLang="zh-CN"/>
              <a:t>OTA </a:t>
            </a:r>
            <a:r>
              <a:rPr lang="zh-CN" altLang="en-US"/>
              <a:t>评分）提高</a:t>
            </a:r>
            <a:r>
              <a:rPr lang="en-US" altLang="zh-CN"/>
              <a:t> 0.2-0.3 </a:t>
            </a:r>
            <a:r>
              <a:rPr lang="zh-CN" altLang="en-US"/>
              <a:t>分；</a:t>
            </a:r>
            <a:endParaRPr lang="zh-CN" altLang="en-US"/>
          </a:p>
          <a:p>
            <a:r>
              <a:rPr lang="zh-CN" altLang="en-US"/>
              <a:t>部门协同效率显著提升。</a:t>
            </a:r>
            <a:endParaRPr lang="zh-CN" altLang="en-US"/>
          </a:p>
        </p:txBody>
      </p:sp>
      <p:sp>
        <p:nvSpPr>
          <p:cNvPr id="175" name="文本框 174"/>
          <p:cNvSpPr txBox="1"/>
          <p:nvPr/>
        </p:nvSpPr>
        <p:spPr>
          <a:xfrm>
            <a:off x="1086485" y="1965960"/>
            <a:ext cx="69418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全面推广产品包，启动整合营销，深化数据分析，完善协同例会</a:t>
            </a:r>
            <a:endParaRPr lang="zh-CN" altLang="en-US" sz="1400"/>
          </a:p>
        </p:txBody>
      </p:sp>
      <p:sp>
        <p:nvSpPr>
          <p:cNvPr id="176" name="文本框 175"/>
          <p:cNvSpPr txBox="1"/>
          <p:nvPr/>
        </p:nvSpPr>
        <p:spPr>
          <a:xfrm>
            <a:off x="1086485" y="3328035"/>
            <a:ext cx="80137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推出季节性新品，会员体系深度绑定，形成</a:t>
            </a:r>
            <a:r>
              <a:rPr lang="en-US" altLang="zh-CN" sz="1400"/>
              <a:t>“</a:t>
            </a:r>
            <a:r>
              <a:rPr lang="zh-CN" altLang="en-US" sz="1400"/>
              <a:t>数据</a:t>
            </a:r>
            <a:r>
              <a:rPr lang="en-US" altLang="zh-CN" sz="1400"/>
              <a:t>-</a:t>
            </a:r>
            <a:r>
              <a:rPr lang="zh-CN" altLang="en-US" sz="1400"/>
              <a:t>产品</a:t>
            </a:r>
            <a:r>
              <a:rPr lang="en-US" altLang="zh-CN" sz="1400"/>
              <a:t>-</a:t>
            </a:r>
            <a:r>
              <a:rPr lang="zh-CN" altLang="en-US" sz="1400"/>
              <a:t>营销</a:t>
            </a:r>
            <a:r>
              <a:rPr lang="en-US" altLang="zh-CN" sz="1400"/>
              <a:t>”</a:t>
            </a:r>
            <a:r>
              <a:rPr lang="zh-CN" altLang="en-US" sz="1400"/>
              <a:t>的迭代闭环</a:t>
            </a:r>
            <a:endParaRPr lang="zh-CN" altLang="en-US" sz="1400"/>
          </a:p>
        </p:txBody>
      </p:sp>
      <p:sp>
        <p:nvSpPr>
          <p:cNvPr id="2" name="文本框 1"/>
          <p:cNvSpPr txBox="1"/>
          <p:nvPr/>
        </p:nvSpPr>
        <p:spPr>
          <a:xfrm>
            <a:off x="7740650" y="4690110"/>
            <a:ext cx="1417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linkClick r:id="rId8" action="ppaction://hlinkfile"/>
              </a:rPr>
              <a:t>结束</a:t>
            </a:r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</p:tagLst>
</file>

<file path=ppt/tags/tag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SHADOW_SCHEMECOLOR_INDEX_BRIGHTNESS" val="-0.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1*i*4"/>
  <p:tag name="KSO_WM_UNIT_LAYERLEVEL" val="1"/>
  <p:tag name="KSO_WM_TAG_VERSION" val="3.0"/>
</p:tagLst>
</file>

<file path=ppt/tags/tag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</p:tagLst>
</file>

<file path=ppt/tags/tag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</p:tagLst>
</file>

<file path=ppt/tags/tag1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8"/>
  <p:tag name="KSO_WM_UNIT_ID" val="_1*i*8"/>
  <p:tag name="KSO_WM_UNIT_LAYERLEVEL" val="1"/>
  <p:tag name="KSO_WM_TAG_VERSION" val="3.0"/>
</p:tagLst>
</file>

<file path=ppt/tags/tag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9"/>
  <p:tag name="KSO_WM_UNIT_ID" val="_1*i*9"/>
  <p:tag name="KSO_WM_UNIT_LAYERLEVEL" val="1"/>
  <p:tag name="KSO_WM_TAG_VERSION" val="3.0"/>
</p:tagLst>
</file>

<file path=ppt/tags/tag1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0"/>
  <p:tag name="KSO_WM_UNIT_ID" val="_1*i*10"/>
  <p:tag name="KSO_WM_UNIT_LAYERLEVEL" val="1"/>
  <p:tag name="KSO_WM_TAG_VERSION" val="3.0"/>
</p:tagLst>
</file>

<file path=ppt/tags/tag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314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314"/>
</p:tagLst>
</file>

<file path=ppt/tags/tag2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314"/>
  <p:tag name="KSO_WM_SPECIAL_SOURCE" val="bdnull"/>
  <p:tag name="KSO_WM_TEMPLATE_THUMBS_INDEX" val="1、9"/>
</p:tagLst>
</file>

<file path=ppt/tags/tag2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314_1*a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  <p:tag name="KSO_WM_UNIT_PRESET_TEXT" val="单击添加文档标题"/>
  <p:tag name="KSO_WM_UNIT_TEXT_TYPE" val="1"/>
</p:tagLst>
</file>

<file path=ppt/tags/tag30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314_1*f*1"/>
  <p:tag name="KSO_WM_TEMPLATE_CATEGORY" val="custom"/>
  <p:tag name="KSO_WM_TEMPLATE_INDEX" val="20230314"/>
  <p:tag name="KSO_WM_UNIT_LAYERLEVEL" val="1"/>
  <p:tag name="KSO_WM_TAG_VERSION" val="3.0"/>
  <p:tag name="KSO_WM_BEAUTIFY_FLAG" val="#wm#"/>
  <p:tag name="KSO_WM_UNIT_CONTENT_GROUP_TYPE" val="contentchip"/>
</p:tagLst>
</file>

<file path=ppt/tags/tag31.xml><?xml version="1.0" encoding="utf-8"?>
<p:tagLst xmlns:p="http://schemas.openxmlformats.org/presentationml/2006/main">
  <p:tag name="KSO_WM_SLIDE_ID" val="custom20230314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314"/>
  <p:tag name="KSO_WM_SLIDE_TYPE" val="title"/>
  <p:tag name="KSO_WM_SLIDE_SUBTYPE" val="pureTxt"/>
  <p:tag name="KSO_WM_SLIDE_LAYOUT" val="a_f"/>
  <p:tag name="KSO_WM_SLIDE_LAYOUT_CNT" val="1_1"/>
  <p:tag name="KSO_WM_SPECIAL_SOURCE" val="bdnull"/>
  <p:tag name="KSO_WM_TEMPLATE_THUMBS_INDEX" val="1、9"/>
  <p:tag name="KSO_WM_SLIDE_CONTENT_AREA" val="{&quot;left&quot;:&quot;173.7&quot;,&quot;top&quot;:&quot;78.5&quot;,&quot;width&quot;:&quot;702.55&quot;,&quot;height&quot;:&quot;350.15&quot;}"/>
</p:tagLst>
</file>

<file path=ppt/tags/tag32.xml><?xml version="1.0" encoding="utf-8"?>
<p:tagLst xmlns:p="http://schemas.openxmlformats.org/presentationml/2006/main">
  <p:tag name="KSO_WM_DIAGRAM_VIRTUALLY_FRAME" val="{&quot;height&quot;:396.54999999999984,&quot;left&quot;:-31.145509436279372,&quot;top&quot;:-48.78850393700786,&quot;width&quot;:868.40003079817}"/>
</p:tagLst>
</file>

<file path=ppt/tags/tag33.xml><?xml version="1.0" encoding="utf-8"?>
<p:tagLst xmlns:p="http://schemas.openxmlformats.org/presentationml/2006/main">
  <p:tag name="KSO_WM_DIAGRAM_VIRTUALLY_FRAME" val="{&quot;height&quot;:396.54999999999984,&quot;left&quot;:-31.145509436279372,&quot;top&quot;:-48.78850393700786,&quot;width&quot;:868.40003079817}"/>
</p:tagLst>
</file>

<file path=ppt/tags/tag34.xml><?xml version="1.0" encoding="utf-8"?>
<p:tagLst xmlns:p="http://schemas.openxmlformats.org/presentationml/2006/main">
  <p:tag name="KSO_WM_DIAGRAM_VIRTUALLY_FRAME" val="{&quot;height&quot;:396.54999999999984,&quot;left&quot;:-31.145509436279372,&quot;top&quot;:-48.78850393700786,&quot;width&quot;:868.40003079817}"/>
</p:tagLst>
</file>

<file path=ppt/tags/tag35.xml><?xml version="1.0" encoding="utf-8"?>
<p:tagLst xmlns:p="http://schemas.openxmlformats.org/presentationml/2006/main">
  <p:tag name="KSO_WM_DIAGRAM_VIRTUALLY_FRAME" val="{&quot;height&quot;:396.54999999999984,&quot;left&quot;:-31.145509436279372,&quot;top&quot;:-48.78850393700786,&quot;width&quot;:868.40003079817}"/>
</p:tagLst>
</file>

<file path=ppt/tags/tag36.xml><?xml version="1.0" encoding="utf-8"?>
<p:tagLst xmlns:p="http://schemas.openxmlformats.org/presentationml/2006/main">
  <p:tag name="KSO_WM_DIAGRAM_VIRTUALLY_FRAME" val="{&quot;height&quot;:396.54999999999984,&quot;left&quot;:-31.145509436279372,&quot;top&quot;:-48.78850393700786,&quot;width&quot;:868.40003079817}"/>
</p:tagLst>
</file>

<file path=ppt/tags/tag37.xml><?xml version="1.0" encoding="utf-8"?>
<p:tagLst xmlns:p="http://schemas.openxmlformats.org/presentationml/2006/main">
  <p:tag name="KSO_WM_DIAGRAM_VIRTUALLY_FRAME" val="{&quot;height&quot;:396.54999999999984,&quot;left&quot;:-31.145509436279372,&quot;top&quot;:-48.78850393700786,&quot;width&quot;:868.40003079817}"/>
</p:tagLst>
</file>

<file path=ppt/tags/tag38.xml><?xml version="1.0" encoding="utf-8"?>
<p:tagLst xmlns:p="http://schemas.openxmlformats.org/presentationml/2006/main">
  <p:tag name="KSO_WM_DIAGRAM_VIRTUALLY_FRAME" val="{&quot;height&quot;:396.54999999999984,&quot;left&quot;:-31.145509436279372,&quot;top&quot;:-48.78850393700786,&quot;width&quot;:868.40003079817}"/>
</p:tagLst>
</file>

<file path=ppt/tags/tag39.xml><?xml version="1.0" encoding="utf-8"?>
<p:tagLst xmlns:p="http://schemas.openxmlformats.org/presentationml/2006/main">
  <p:tag name="KSO_WM_DIAGRAM_VIRTUALLY_FRAME" val="{&quot;height&quot;:396.54999999999984,&quot;left&quot;:-31.145509436279372,&quot;top&quot;:-48.78850393700786,&quot;width&quot;:868.40003079817}"/>
</p:tagLst>
</file>

<file path=ppt/tags/tag40.xml><?xml version="1.0" encoding="utf-8"?>
<p:tagLst xmlns:p="http://schemas.openxmlformats.org/presentationml/2006/main">
  <p:tag name="KSO_WM_DIAGRAM_VIRTUALLY_FRAME" val="{&quot;height&quot;:396.54999999999984,&quot;left&quot;:-31.145509436279372,&quot;top&quot;:-48.78850393700786,&quot;width&quot;:868.40003079817}"/>
</p:tagLst>
</file>

<file path=ppt/tags/tag41.xml><?xml version="1.0" encoding="utf-8"?>
<p:tagLst xmlns:p="http://schemas.openxmlformats.org/presentationml/2006/main">
  <p:tag name="KSO_WM_DIAGRAM_VIRTUALLY_FRAME" val="{&quot;height&quot;:396.54999999999984,&quot;left&quot;:-31.145509436279372,&quot;top&quot;:-48.78850393700786,&quot;width&quot;:868.40003079817}"/>
</p:tagLst>
</file>

<file path=ppt/tags/tag42.xml><?xml version="1.0" encoding="utf-8"?>
<p:tagLst xmlns:p="http://schemas.openxmlformats.org/presentationml/2006/main">
  <p:tag name="KSO_WM_DIAGRAM_VIRTUALLY_FRAME" val="{&quot;height&quot;:204.6804724409449,&quot;left&quot;:404.04314960629927,&quot;top&quot;:126.2695275590551,&quot;width&quot;:253.70685039370073}"/>
</p:tagLst>
</file>

<file path=ppt/tags/tag43.xml><?xml version="1.0" encoding="utf-8"?>
<p:tagLst xmlns:p="http://schemas.openxmlformats.org/presentationml/2006/main">
  <p:tag name="KSO_WM_DIAGRAM_VIRTUALLY_FRAME" val="{&quot;height&quot;:204.6804724409449,&quot;left&quot;:404.04314960629927,&quot;top&quot;:126.2695275590551,&quot;width&quot;:253.70685039370073}"/>
</p:tagLst>
</file>

<file path=ppt/tags/tag44.xml><?xml version="1.0" encoding="utf-8"?>
<p:tagLst xmlns:p="http://schemas.openxmlformats.org/presentationml/2006/main">
  <p:tag name="KSO_WM_DIAGRAM_VIRTUALLY_FRAME" val="{&quot;height&quot;:204.6804724409449,&quot;left&quot;:404.04314960629927,&quot;top&quot;:126.2695275590551,&quot;width&quot;:253.70685039370073}"/>
</p:tagLst>
</file>

<file path=ppt/tags/tag45.xml><?xml version="1.0" encoding="utf-8"?>
<p:tagLst xmlns:p="http://schemas.openxmlformats.org/presentationml/2006/main">
  <p:tag name="KSO_WM_DIAGRAM_VIRTUALLY_FRAME" val="{&quot;height&quot;:204.6804724409449,&quot;left&quot;:404.04314960629927,&quot;top&quot;:126.2695275590551,&quot;width&quot;:253.70685039370073}"/>
</p:tagLst>
</file>

<file path=ppt/tags/tag46.xml><?xml version="1.0" encoding="utf-8"?>
<p:tagLst xmlns:p="http://schemas.openxmlformats.org/presentationml/2006/main">
  <p:tag name="KSO_WM_DIAGRAM_VIRTUALLY_FRAME" val="{&quot;height&quot;:204.6804724409449,&quot;left&quot;:404.04314960629927,&quot;top&quot;:126.2695275590551,&quot;width&quot;:253.70685039370073}"/>
</p:tagLst>
</file>

<file path=ppt/tags/tag47.xml><?xml version="1.0" encoding="utf-8"?>
<p:tagLst xmlns:p="http://schemas.openxmlformats.org/presentationml/2006/main">
  <p:tag name="KSO_WM_DIAGRAM_VIRTUALLY_FRAME" val="{&quot;height&quot;:204.6804724409449,&quot;left&quot;:404.04314960629927,&quot;top&quot;:126.2695275590551,&quot;width&quot;:253.70685039370073}"/>
</p:tagLst>
</file>

<file path=ppt/tags/tag48.xml><?xml version="1.0" encoding="utf-8"?>
<p:tagLst xmlns:p="http://schemas.openxmlformats.org/presentationml/2006/main">
  <p:tag name="KSO_WM_DIAGRAM_VIRTUALLY_FRAME" val="{&quot;height&quot;:204.6804724409449,&quot;left&quot;:404.04314960629927,&quot;top&quot;:126.2695275590551,&quot;width&quot;:253.70685039370073}"/>
</p:tagLst>
</file>

<file path=ppt/tags/tag49.xml><?xml version="1.0" encoding="utf-8"?>
<p:tagLst xmlns:p="http://schemas.openxmlformats.org/presentationml/2006/main">
  <p:tag name="KSO_WM_DIAGRAM_VIRTUALLY_FRAME" val="{&quot;height&quot;:204.6804724409449,&quot;left&quot;:404.04314960629927,&quot;top&quot;:126.2695275590551,&quot;width&quot;:253.70685039370073}"/>
</p:tagLst>
</file>

<file path=ppt/tags/tag50.xml><?xml version="1.0" encoding="utf-8"?>
<p:tagLst xmlns:p="http://schemas.openxmlformats.org/presentationml/2006/main">
  <p:tag name="MH" val="20180827181031"/>
  <p:tag name="MH_LIBRARY" val="GRAPHIC"/>
  <p:tag name="MH_TYPE" val="Title"/>
  <p:tag name="MH_ORDER" val="1"/>
  <p:tag name="KSO_WM_DIAGRAM_VIRTUALLY_FRAME" val="{&quot;height&quot;:245.6915095078222,&quot;left&quot;:53.861806105612075,&quot;top&quot;:118.87486218568078,&quot;width&quot;:604.3741829385119}"/>
</p:tagLst>
</file>

<file path=ppt/tags/tag51.xml><?xml version="1.0" encoding="utf-8"?>
<p:tagLst xmlns:p="http://schemas.openxmlformats.org/presentationml/2006/main">
  <p:tag name="KSO_WM_DIAGRAM_VIRTUALLY_FRAME" val="{&quot;height&quot;:245.6915095078222,&quot;left&quot;:53.861806105612075,&quot;top&quot;:118.87486218568078,&quot;width&quot;:604.3741829385119}"/>
</p:tagLst>
</file>

<file path=ppt/tags/tag52.xml><?xml version="1.0" encoding="utf-8"?>
<p:tagLst xmlns:p="http://schemas.openxmlformats.org/presentationml/2006/main">
  <p:tag name="KSO_WM_DIAGRAM_VIRTUALLY_FRAME" val="{&quot;height&quot;:245.6915095078222,&quot;left&quot;:53.861806105612075,&quot;top&quot;:118.87486218568078,&quot;width&quot;:604.3741829385119}"/>
</p:tagLst>
</file>

<file path=ppt/tags/tag53.xml><?xml version="1.0" encoding="utf-8"?>
<p:tagLst xmlns:p="http://schemas.openxmlformats.org/presentationml/2006/main">
  <p:tag name="KSO_WM_DIAGRAM_VIRTUALLY_FRAME" val="{&quot;height&quot;:245.6915095078222,&quot;left&quot;:53.861806105612075,&quot;top&quot;:118.87486218568078,&quot;width&quot;:604.3741829385119}"/>
</p:tagLst>
</file>

<file path=ppt/tags/tag54.xml><?xml version="1.0" encoding="utf-8"?>
<p:tagLst xmlns:p="http://schemas.openxmlformats.org/presentationml/2006/main">
  <p:tag name="KSO_WM_DIAGRAM_VIRTUALLY_FRAME" val="{&quot;height&quot;:245.6915095078222,&quot;left&quot;:53.861806105612075,&quot;top&quot;:118.87486218568078,&quot;width&quot;:604.3741829385119}"/>
</p:tagLst>
</file>

<file path=ppt/tags/tag55.xml><?xml version="1.0" encoding="utf-8"?>
<p:tagLst xmlns:p="http://schemas.openxmlformats.org/presentationml/2006/main">
  <p:tag name="KSO_WM_DIAGRAM_VIRTUALLY_FRAME" val="{&quot;height&quot;:245.6915095078222,&quot;left&quot;:53.861806105612075,&quot;top&quot;:118.87486218568078,&quot;width&quot;:604.3741829385119}"/>
</p:tagLst>
</file>

<file path=ppt/tags/tag56.xml><?xml version="1.0" encoding="utf-8"?>
<p:tagLst xmlns:p="http://schemas.openxmlformats.org/presentationml/2006/main">
  <p:tag name="KSO_WM_DIAGRAM_VIRTUALLY_FRAME" val="{&quot;height&quot;:245.6915095078222,&quot;left&quot;:53.861806105612075,&quot;top&quot;:118.87486218568078,&quot;width&quot;:604.3741829385119}"/>
</p:tagLst>
</file>

<file path=ppt/tags/tag57.xml><?xml version="1.0" encoding="utf-8"?>
<p:tagLst xmlns:p="http://schemas.openxmlformats.org/presentationml/2006/main">
  <p:tag name="KSO_WM_DIAGRAM_VIRTUALLY_FRAME" val="{&quot;height&quot;:245.6915095078222,&quot;left&quot;:53.861806105612075,&quot;top&quot;:118.87486218568078,&quot;width&quot;:604.3741829385119}"/>
</p:tagLst>
</file>

<file path=ppt/tags/tag58.xml><?xml version="1.0" encoding="utf-8"?>
<p:tagLst xmlns:p="http://schemas.openxmlformats.org/presentationml/2006/main">
  <p:tag name="KSO_WM_DIAGRAM_VIRTUALLY_FRAME" val="{&quot;height&quot;:245.6915095078222,&quot;left&quot;:53.861806105612075,&quot;top&quot;:118.87486218568078,&quot;width&quot;:604.3741829385119}"/>
</p:tagLst>
</file>

<file path=ppt/tags/tag59.xml><?xml version="1.0" encoding="utf-8"?>
<p:tagLst xmlns:p="http://schemas.openxmlformats.org/presentationml/2006/main">
  <p:tag name="KSO_WM_DIAGRAM_VIRTUALLY_FRAME" val="{&quot;height&quot;:245.6915095078222,&quot;left&quot;:53.861806105612075,&quot;top&quot;:118.87486218568078,&quot;width&quot;:604.3741829385119}"/>
</p:tagLst>
</file>

<file path=ppt/tags/tag60.xml><?xml version="1.0" encoding="utf-8"?>
<p:tagLst xmlns:p="http://schemas.openxmlformats.org/presentationml/2006/main">
  <p:tag name="KSO_WM_DIAGRAM_VIRTUALLY_FRAME" val="{&quot;height&quot;:245.6915095078222,&quot;left&quot;:53.861806105612075,&quot;top&quot;:118.87486218568078,&quot;width&quot;:604.3741829385119}"/>
</p:tagLst>
</file>

<file path=ppt/tags/tag61.xml><?xml version="1.0" encoding="utf-8"?>
<p:tagLst xmlns:p="http://schemas.openxmlformats.org/presentationml/2006/main">
  <p:tag name="KSO_WM_DIAGRAM_VIRTUALLY_FRAME" val="{&quot;height&quot;:245.6915095078222,&quot;left&quot;:53.861806105612075,&quot;top&quot;:118.87486218568078,&quot;width&quot;:604.3741829385119}"/>
</p:tagLst>
</file>

<file path=ppt/tags/tag62.xml><?xml version="1.0" encoding="utf-8"?>
<p:tagLst xmlns:p="http://schemas.openxmlformats.org/presentationml/2006/main">
  <p:tag name="KSO_WM_DIAGRAM_VIRTUALLY_FRAME" val="{&quot;height&quot;:245.6915095078222,&quot;left&quot;:53.861806105612075,&quot;top&quot;:118.87486218568078,&quot;width&quot;:604.3741829385119}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3131_3*l_h_i*1_1_1"/>
  <p:tag name="KSO_WM_TEMPLATE_CATEGORY" val="diagram"/>
  <p:tag name="KSO_WM_TEMPLATE_INDEX" val="20233131"/>
  <p:tag name="KSO_WM_UNIT_LAYERLEVEL" val="1_1_1"/>
  <p:tag name="KSO_WM_TAG_VERSION" val="3.0"/>
  <p:tag name="KSO_WM_UNIT_TEXT_FILL_FORE_SCHEMECOLOR_INDEX_BRIGHTNESS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84.3249992774791,&quot;left&quot;:52.673208661417334,&quot;top&quot;:84.07178185732349,&quot;width&quot;:614.107440944881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USE_COLOR_VALUE" val="{&quot;color_scheme&quot;:1,&quot;color_type&quot;:1,&quot;theme_color_indexes&quot;:[5,6,5,6,5,6]}"/>
  <p:tag name="KSO_WM_BEAUTIFY_FLAG" val="#wm#"/>
  <p:tag name="KSO_WM_UNIT_TEXT_FILL_FORE_SCHEMECOLOR_INDEX" val="1"/>
  <p:tag name="KSO_WM_UNIT_TEXT_FILL_TYPE" val="1"/>
</p:tagLst>
</file>

<file path=ppt/tags/tag64.xml><?xml version="1.0" encoding="utf-8"?>
<p:tagLst xmlns:p="http://schemas.openxmlformats.org/presentationml/2006/main">
  <p:tag name="KSO_WM_UNIT_LINE_FORE_SCHEMECOLOR_INDEX_BRIGHTNESS" val="0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3131_3*l_h_i*1_1_2"/>
  <p:tag name="KSO_WM_TEMPLATE_CATEGORY" val="diagram"/>
  <p:tag name="KSO_WM_TEMPLATE_INDEX" val="202331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84.3249992774791,&quot;left&quot;:52.673208661417334,&quot;top&quot;:84.07178185732349,&quot;width&quot;:614.107440944881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USE_COLOR_VALUE" val="{&quot;color_scheme&quot;:1,&quot;color_type&quot;:1,&quot;theme_color_indexes&quot;:[5,6,5,6,5,6]}"/>
  <p:tag name="KSO_WM_BEAUTIFY_FLAG" val="#wm#"/>
  <p:tag name="KSO_WM_UNIT_LINE_FORE_SCHEMECOLOR_INDEX" val="5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131_3*l_h_a*1_1_1"/>
  <p:tag name="KSO_WM_TEMPLATE_CATEGORY" val="diagram"/>
  <p:tag name="KSO_WM_TEMPLATE_INDEX" val="20233131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84.3249992774791,&quot;left&quot;:52.673208661417334,&quot;top&quot;:84.07178185732349,&quot;width&quot;:614.107440944881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1"/>
  <p:tag name="KSO_WM_DIAGRAM_USE_COLOR_VALUE" val="{&quot;color_scheme&quot;:1,&quot;color_type&quot;:1,&quot;theme_color_indexes&quot;:[5,6,5,6,5,6]}"/>
  <p:tag name="KSO_WM_BEAUTIFY_FLAG" val="#wm#"/>
  <p:tag name="KSO_WM_UNIT_PRESET_TEXT" val="添加项标题"/>
  <p:tag name="KSO_WM_UNIT_TEXT_FILL_FORE_SCHEMECOLOR_INDEX" val="1"/>
  <p:tag name="KSO_WM_UNIT_TEXT_FILL_TYPE" val="1"/>
</p:tagLst>
</file>

<file path=ppt/tags/tag6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131_3*l_h_f*1_1_1"/>
  <p:tag name="KSO_WM_TEMPLATE_CATEGORY" val="diagram"/>
  <p:tag name="KSO_WM_TEMPLATE_INDEX" val="20233131"/>
  <p:tag name="KSO_WM_UNIT_LAYERLEVEL" val="1_1_1"/>
  <p:tag name="KSO_WM_TAG_VERSION" val="3.0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84.3249992774791,&quot;left&quot;:52.673208661417334,&quot;top&quot;:84.07178185732349,&quot;width&quot;:614.107440944881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1"/>
  <p:tag name="KSO_WM_DIAGRAM_USE_COLOR_VALUE" val="{&quot;color_scheme&quot;:1,&quot;color_type&quot;:1,&quot;theme_color_indexes&quot;:[5,6,5,6,5,6]}"/>
  <p:tag name="KSO_WM_UNIT_TEXT_LAYER_COUNT" val="1"/>
  <p:tag name="KSO_WM_BEAUTIFY_FLAG" val="#wm#"/>
  <p:tag name="KSO_WM_UNIT_PRESET_TEXT" val="单击此处输入(你的)智能图形项正文，文字是您思想的提炼，请尽量言简意赅的阐述观点。单击此处输入正文，文字是您思想的提炼，请尽量言简意赅的阐述观点。"/>
  <p:tag name="KSO_WM_UNIT_TEXT_FILL_FORE_SCHEMECOLOR_INDEX" val="1"/>
  <p:tag name="KSO_WM_UNIT_TEXT_FILL_TYPE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20233131_3*l_h_i*1_3_1"/>
  <p:tag name="KSO_WM_TEMPLATE_CATEGORY" val="diagram"/>
  <p:tag name="KSO_WM_TEMPLATE_INDEX" val="20233131"/>
  <p:tag name="KSO_WM_UNIT_LAYERLEVEL" val="1_1_1"/>
  <p:tag name="KSO_WM_TAG_VERSION" val="3.0"/>
  <p:tag name="KSO_WM_UNIT_TEXT_FILL_FORE_SCHEMECOLOR_INDEX_BRIGHTNESS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84.3249992774791,&quot;left&quot;:52.673208661417334,&quot;top&quot;:84.07178185732349,&quot;width&quot;:614.107440944881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USE_COLOR_VALUE" val="{&quot;color_scheme&quot;:1,&quot;color_type&quot;:1,&quot;theme_color_indexes&quot;:[5,6,5,6,5,6]}"/>
  <p:tag name="KSO_WM_BEAUTIFY_FLAG" val="#wm#"/>
  <p:tag name="KSO_WM_UNIT_TEXT_FILL_FORE_SCHEMECOLOR_INDEX" val="1"/>
  <p:tag name="KSO_WM_UNIT_TEXT_FILL_TYPE" val="1"/>
</p:tagLst>
</file>

<file path=ppt/tags/tag68.xml><?xml version="1.0" encoding="utf-8"?>
<p:tagLst xmlns:p="http://schemas.openxmlformats.org/presentationml/2006/main">
  <p:tag name="KSO_WM_UNIT_LINE_FORE_SCHEMECOLOR_INDEX_BRIGHTNESS" val="0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3131_3*l_h_i*1_3_2"/>
  <p:tag name="KSO_WM_TEMPLATE_CATEGORY" val="diagram"/>
  <p:tag name="KSO_WM_TEMPLATE_INDEX" val="202331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84.3249992774791,&quot;left&quot;:52.673208661417334,&quot;top&quot;:84.07178185732349,&quot;width&quot;:614.107440944881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USE_COLOR_VALUE" val="{&quot;color_scheme&quot;:1,&quot;color_type&quot;:1,&quot;theme_color_indexes&quot;:[5,6,5,6,5,6]}"/>
  <p:tag name="KSO_WM_BEAUTIFY_FLAG" val="#wm#"/>
  <p:tag name="KSO_WM_UNIT_LINE_FORE_SCHEMECOLOR_INDEX" val="5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131_3*l_h_a*1_3_1"/>
  <p:tag name="KSO_WM_TEMPLATE_CATEGORY" val="diagram"/>
  <p:tag name="KSO_WM_TEMPLATE_INDEX" val="20233131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84.3249992774791,&quot;left&quot;:52.673208661417334,&quot;top&quot;:84.07178185732349,&quot;width&quot;:614.107440944881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1"/>
  <p:tag name="KSO_WM_DIAGRAM_USE_COLOR_VALUE" val="{&quot;color_scheme&quot;:1,&quot;color_type&quot;:1,&quot;theme_color_indexes&quot;:[5,6,5,6,5,6]}"/>
  <p:tag name="KSO_WM_BEAUTIFY_FLAG" val="#wm#"/>
  <p:tag name="KSO_WM_UNIT_PRESET_TEXT" val="添加项标题"/>
  <p:tag name="KSO_WM_UNIT_TEXT_FILL_FORE_SCHEMECOLOR_INDEX" val="1"/>
  <p:tag name="KSO_WM_UNIT_TEXT_FILL_TYPE" val="1"/>
</p:tagLst>
</file>

<file path=ppt/tags/tag7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3131_3*l_h_f*1_3_1"/>
  <p:tag name="KSO_WM_TEMPLATE_CATEGORY" val="diagram"/>
  <p:tag name="KSO_WM_TEMPLATE_INDEX" val="20233131"/>
  <p:tag name="KSO_WM_UNIT_LAYERLEVEL" val="1_1_1"/>
  <p:tag name="KSO_WM_TAG_VERSION" val="3.0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84.3249992774791,&quot;left&quot;:52.673208661417334,&quot;top&quot;:84.07178185732349,&quot;width&quot;:614.107440944881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1"/>
  <p:tag name="KSO_WM_DIAGRAM_USE_COLOR_VALUE" val="{&quot;color_scheme&quot;:1,&quot;color_type&quot;:1,&quot;theme_color_indexes&quot;:[5,6,5,6,5,6]}"/>
  <p:tag name="KSO_WM_UNIT_TEXT_LAYER_COUNT" val="1"/>
  <p:tag name="KSO_WM_UNIT_TEXT_FILL_TYPE" val="1"/>
  <p:tag name="KSO_WM_BEAUTIFY_FLAG" val="#wm#"/>
  <p:tag name="KSO_WM_UNIT_PRESET_TEXT" val="单击此处输入(你的)智能图形项正文，文字是您思想的提炼，请尽量言简意赅的阐述观点。单击此处输入(你的)智能图形项正文，文字是您思想的提炼，请尽量言简意赅的阐述观点。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3131_3*l_h_i*1_2_1"/>
  <p:tag name="KSO_WM_TEMPLATE_CATEGORY" val="diagram"/>
  <p:tag name="KSO_WM_TEMPLATE_INDEX" val="20233131"/>
  <p:tag name="KSO_WM_UNIT_LAYERLEVEL" val="1_1_1"/>
  <p:tag name="KSO_WM_TAG_VERSION" val="3.0"/>
  <p:tag name="KSO_WM_UNIT_TEXT_FILL_FORE_SCHEMECOLOR_INDEX_BRIGHTNESS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84.3249992774791,&quot;left&quot;:52.673208661417334,&quot;top&quot;:84.07178185732349,&quot;width&quot;:614.107440944881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USE_COLOR_VALUE" val="{&quot;color_scheme&quot;:1,&quot;color_type&quot;:1,&quot;theme_color_indexes&quot;:[5,6,5,6,5,6]}"/>
  <p:tag name="KSO_WM_BEAUTIFY_FLAG" val="#wm#"/>
  <p:tag name="KSO_WM_UNIT_TEXT_FILL_FORE_SCHEMECOLOR_INDEX" val="1"/>
  <p:tag name="KSO_WM_UNIT_TEXT_FILL_TYPE" val="1"/>
</p:tagLst>
</file>

<file path=ppt/tags/tag72.xml><?xml version="1.0" encoding="utf-8"?>
<p:tagLst xmlns:p="http://schemas.openxmlformats.org/presentationml/2006/main">
  <p:tag name="KSO_WM_UNIT_LINE_FORE_SCHEMECOLOR_INDEX_BRIGHTNESS" val="0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3131_3*l_h_i*1_2_2"/>
  <p:tag name="KSO_WM_TEMPLATE_CATEGORY" val="diagram"/>
  <p:tag name="KSO_WM_TEMPLATE_INDEX" val="202331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84.3249992774791,&quot;left&quot;:52.673208661417334,&quot;top&quot;:84.07178185732349,&quot;width&quot;:614.107440944881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USE_COLOR_VALUE" val="{&quot;color_scheme&quot;:1,&quot;color_type&quot;:1,&quot;theme_color_indexes&quot;:[5,6,5,6,5,6]}"/>
  <p:tag name="KSO_WM_BEAUTIFY_FLAG" val="#wm#"/>
  <p:tag name="KSO_WM_UNIT_LINE_FORE_SCHEMECOLOR_INDEX" val="5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131_3*l_h_a*1_2_1"/>
  <p:tag name="KSO_WM_TEMPLATE_CATEGORY" val="diagram"/>
  <p:tag name="KSO_WM_TEMPLATE_INDEX" val="20233131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84.3249992774791,&quot;left&quot;:52.673208661417334,&quot;top&quot;:84.07178185732349,&quot;width&quot;:614.107440944881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1"/>
  <p:tag name="KSO_WM_DIAGRAM_USE_COLOR_VALUE" val="{&quot;color_scheme&quot;:1,&quot;color_type&quot;:1,&quot;theme_color_indexes&quot;:[5,6,5,6,5,6]}"/>
  <p:tag name="KSO_WM_BEAUTIFY_FLAG" val="#wm#"/>
  <p:tag name="KSO_WM_UNIT_PRESET_TEXT" val="添加项标题"/>
  <p:tag name="KSO_WM_UNIT_TEXT_FILL_FORE_SCHEMECOLOR_INDEX" val="1"/>
  <p:tag name="KSO_WM_UNIT_TEXT_FILL_TYPE" val="1"/>
</p:tagLst>
</file>

<file path=ppt/tags/tag7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131_3*l_h_f*1_2_1"/>
  <p:tag name="KSO_WM_TEMPLATE_CATEGORY" val="diagram"/>
  <p:tag name="KSO_WM_TEMPLATE_INDEX" val="20233131"/>
  <p:tag name="KSO_WM_UNIT_LAYERLEVEL" val="1_1_1"/>
  <p:tag name="KSO_WM_TAG_VERSION" val="3.0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84.3249992774791,&quot;left&quot;:52.673208661417334,&quot;top&quot;:84.07178185732349,&quot;width&quot;:614.107440944881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1"/>
  <p:tag name="KSO_WM_DIAGRAM_USE_COLOR_VALUE" val="{&quot;color_scheme&quot;:1,&quot;color_type&quot;:1,&quot;theme_color_indexes&quot;:[5,6,5,6,5,6]}"/>
  <p:tag name="KSO_WM_UNIT_TEXT_LAYER_COUNT" val="1"/>
  <p:tag name="KSO_WM_UNIT_TEXT_FILL_TYPE" val="1"/>
  <p:tag name="KSO_WM_BEAUTIFY_FLAG" val="#wm#"/>
  <p:tag name="KSO_WM_UNIT_PRESET_TEXT" val="单击此处输入(你的)智能图形项正文，文字是您思想的提炼，请尽量言简意赅的阐述观点。单击此处输入(你的)智能图形项正文，文字是您思想的提炼，请尽量言简意赅的阐述观点。单击此处输入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diagram20233131_3*l_h_i*1_4_1"/>
  <p:tag name="KSO_WM_TEMPLATE_CATEGORY" val="diagram"/>
  <p:tag name="KSO_WM_TEMPLATE_INDEX" val="20233131"/>
  <p:tag name="KSO_WM_UNIT_LAYERLEVEL" val="1_1_1"/>
  <p:tag name="KSO_WM_TAG_VERSION" val="3.0"/>
  <p:tag name="KSO_WM_UNIT_TEXT_FILL_FORE_SCHEMECOLOR_INDEX_BRIGHTNESS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84.3249992774791,&quot;left&quot;:52.673208661417334,&quot;top&quot;:84.07178185732349,&quot;width&quot;:614.107440944881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DIAGRAM_USE_COLOR_VALUE" val="{&quot;color_scheme&quot;:1,&quot;color_type&quot;:1,&quot;theme_color_indexes&quot;:[5,6,5,6,5,6]}"/>
  <p:tag name="KSO_WM_BEAUTIFY_FLAG" val="#wm#"/>
  <p:tag name="KSO_WM_UNIT_TEXT_FILL_FORE_SCHEMECOLOR_INDEX" val="1"/>
  <p:tag name="KSO_WM_UNIT_TEXT_FILL_TYPE" val="1"/>
</p:tagLst>
</file>

<file path=ppt/tags/tag76.xml><?xml version="1.0" encoding="utf-8"?>
<p:tagLst xmlns:p="http://schemas.openxmlformats.org/presentationml/2006/main">
  <p:tag name="KSO_WM_UNIT_LINE_FORE_SCHEMECOLOR_INDEX_BRIGHTNESS" val="0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3131_3*l_h_i*1_4_2"/>
  <p:tag name="KSO_WM_TEMPLATE_CATEGORY" val="diagram"/>
  <p:tag name="KSO_WM_TEMPLATE_INDEX" val="202331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84.3249992774791,&quot;left&quot;:52.673208661417334,&quot;top&quot;:84.07178185732349,&quot;width&quot;:614.107440944881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USE_COLOR_VALUE" val="{&quot;color_scheme&quot;:1,&quot;color_type&quot;:1,&quot;theme_color_indexes&quot;:[5,6,5,6,5,6]}"/>
  <p:tag name="KSO_WM_BEAUTIFY_FLAG" val="#wm#"/>
  <p:tag name="KSO_WM_UNIT_LINE_FORE_SCHEMECOLOR_INDEX" val="5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3131_3*l_h_a*1_4_1"/>
  <p:tag name="KSO_WM_TEMPLATE_CATEGORY" val="diagram"/>
  <p:tag name="KSO_WM_TEMPLATE_INDEX" val="20233131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84.3249992774791,&quot;left&quot;:52.673208661417334,&quot;top&quot;:84.07178185732349,&quot;width&quot;:614.107440944881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1"/>
  <p:tag name="KSO_WM_DIAGRAM_USE_COLOR_VALUE" val="{&quot;color_scheme&quot;:1,&quot;color_type&quot;:1,&quot;theme_color_indexes&quot;:[5,6,5,6,5,6]}"/>
  <p:tag name="KSO_WM_BEAUTIFY_FLAG" val="#wm#"/>
  <p:tag name="KSO_WM_UNIT_PRESET_TEXT" val="添加项标题"/>
  <p:tag name="KSO_WM_UNIT_TEXT_FILL_FORE_SCHEMECOLOR_INDEX" val="1"/>
  <p:tag name="KSO_WM_UNIT_TEXT_FILL_TYPE" val="1"/>
</p:tagLst>
</file>

<file path=ppt/tags/tag7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3131_3*l_h_f*1_4_1"/>
  <p:tag name="KSO_WM_TEMPLATE_CATEGORY" val="diagram"/>
  <p:tag name="KSO_WM_TEMPLATE_INDEX" val="20233131"/>
  <p:tag name="KSO_WM_UNIT_LAYERLEVEL" val="1_1_1"/>
  <p:tag name="KSO_WM_TAG_VERSION" val="3.0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84.3249992774791,&quot;left&quot;:52.673208661417334,&quot;top&quot;:84.07178185732349,&quot;width&quot;:614.107440944881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colorType&quot;: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1"/>
  <p:tag name="KSO_WM_DIAGRAM_USE_COLOR_VALUE" val="{&quot;color_scheme&quot;:1,&quot;color_type&quot;:1,&quot;theme_color_indexes&quot;:[5,6,5,6,5,6]}"/>
  <p:tag name="KSO_WM_UNIT_TEXT_LAYER_COUNT" val="1"/>
  <p:tag name="KSO_WM_UNIT_TEXT_FILL_TYPE" val="1"/>
  <p:tag name="KSO_WM_BEAUTIFY_FLAG" val="#wm#"/>
  <p:tag name="KSO_WM_UNIT_PRESET_TEXT" val="单击此处输入(你的)智能图形项正文，文字是您思想的提炼，请尽量言简意赅的阐述观点。单击此处输入正文，文字是您思想的提炼，请尽量言简意赅的阐述观点。单击此处输入&#10;"/>
</p:tagLst>
</file>

<file path=ppt/tags/tag79.xml><?xml version="1.0" encoding="utf-8"?>
<p:tagLst xmlns:p="http://schemas.openxmlformats.org/presentationml/2006/main">
  <p:tag name="KSO_WM_SLIDE_ID" val="diagram20233131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TAG_VERSION" val="3.0"/>
  <p:tag name="KSO_WM_BEAUTIFY_FLAG" val="#wm#"/>
  <p:tag name="KSO_WM_TEMPLATE_CATEGORY" val="diagram"/>
  <p:tag name="KSO_WM_TEMPLATE_INDEX" val="20233131"/>
  <p:tag name="KSO_WM_SLIDE_TYPE" val="text"/>
  <p:tag name="KSO_WM_SLIDE_SUBTYPE" val="diag"/>
  <p:tag name="KSO_WM_SLIDE_SIZE" val="818.769*372.208"/>
  <p:tag name="KSO_WM_SLIDE_POSITION" val="70.2309*115.54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0945_2*a*1"/>
  <p:tag name="KSO_WM_TEMPLATE_CATEGORY" val="diagram"/>
  <p:tag name="KSO_WM_TEMPLATE_INDEX" val="20230945"/>
  <p:tag name="KSO_WM_UNIT_LAYERLEVEL" val="1"/>
  <p:tag name="KSO_WM_TAG_VERSION" val="3.0"/>
  <p:tag name="KSO_WM_BEAUTIFY_FLAG" val="#wm#"/>
  <p:tag name="KSO_WM_DIAGRAM_GROUP_CODE" val="n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8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0945_2*n_h_h_f*1_2_3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-43.0561689914493,&quot;top&quot;:31.356845707930916,&quot;width&quot;:807.496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单击此处输入你的智能图形项正文，文字是您思想的提炼。"/>
  <p:tag name="KSO_WM_UNIT_TEXT_FILL_FORE_SCHEMECOLOR_INDEX" val="1"/>
  <p:tag name="KSO_WM_UNIT_TEXT_FILL_TYPE" val="1"/>
  <p:tag name="KSO_WM_UNIT_USESOURCEFORMAT_APPLY" val="0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0945_2*n_h_h_a*1_2_3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-43.0561689914493,&quot;top&quot;:31.356845707930916,&quot;width&quot;:807.496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8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0945_2*n_h_h_f*1_2_1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-43.0561689914493,&quot;top&quot;:31.356845707930916,&quot;width&quot;:807.496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 单击此处输入你的智能图形项正文，文字是您思想的提炼。"/>
  <p:tag name="KSO_WM_UNIT_TEXT_FILL_FORE_SCHEMECOLOR_INDEX" val="1"/>
  <p:tag name="KSO_WM_UNIT_TEXT_FILL_TYPE" val="1"/>
  <p:tag name="KSO_WM_UNIT_USESOURCEFORMAT_APPLY" val="0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0945_2*n_h_h_a*1_2_1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-43.0561689914493,&quot;top&quot;:31.356845707930916,&quot;width&quot;:807.496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8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0945_2*n_h_h_f*1_2_2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-43.0561689914493,&quot;top&quot;:31.356845707930916,&quot;width&quot;:807.496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单击此处输入你的智能图形项正文，文字是您思想的提炼。"/>
  <p:tag name="KSO_WM_UNIT_TEXT_FILL_FORE_SCHEMECOLOR_INDEX" val="1"/>
  <p:tag name="KSO_WM_UNIT_TEXT_FILL_TYPE" val="1"/>
  <p:tag name="KSO_WM_UNIT_USESOURCEFORMAT_APPLY" val="0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0945_2*n_h_h_a*1_2_2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-43.0561689914493,&quot;top&quot;:31.356845707930916,&quot;width&quot;:807.496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87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FILL_TYPE" val="3"/>
  <p:tag name="KSO_WM_UNIT_TEXT_FILL_FORE_SCHEMECOLOR_INDEX_BRIGHTNESS" val="0"/>
  <p:tag name="KSO_WM_UNIT_TEXT_FILL_TYPE" val="1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64"/>
  <p:tag name="KSO_WM_UNIT_LINE_FORE_SCHEMECOLOR_INDEX_2_TRANS" val="0"/>
  <p:tag name="KSO_WM_UNIT_LINE_FORE_SCHEMECOLOR_INDEX_3_BRIGHTNESS" val="0.8"/>
  <p:tag name="KSO_WM_UNIT_LINE_FORE_SCHEMECOLOR_INDEX_3" val="15"/>
  <p:tag name="KSO_WM_UNIT_LINE_FORE_SCHEMECOLOR_INDEX_3_POS" val="0.9"/>
  <p:tag name="KSO_WM_UNIT_LINE_FORE_SCHEMECOLOR_INDEX_3_TRANS" val="0.53"/>
  <p:tag name="KSO_WM_UNIT_LINE_FORE_SCHEMECOLOR_INDEX_4_BRIGHTNESS" val="0.8"/>
  <p:tag name="KSO_WM_UNIT_LINE_FORE_SCHEMECOLOR_INDEX_4" val="15"/>
  <p:tag name="KSO_WM_UNIT_LINE_FORE_SCHEMECOLOR_INDEX_4_POS" val="0.95"/>
  <p:tag name="KSO_WM_UNIT_LINE_FORE_SCHEMECOLOR_INDEX_4_TRANS" val="0"/>
  <p:tag name="KSO_WM_UNIT_LINE_FORE_SCHEMECOLOR_INDEX_5_BRIGHTNESS" val="0.8"/>
  <p:tag name="KSO_WM_UNIT_LINE_FORE_SCHEMECOLOR_INDEX_5" val="15"/>
  <p:tag name="KSO_WM_UNIT_LINE_FORE_SCHEMECOLOR_INDEX_5_POS" val="1"/>
  <p:tag name="KSO_WM_UNIT_LINE_FORE_SCHEMECOLOR_INDEX_5_TRANS" val="0.9"/>
  <p:tag name="KSO_WM_UNIT_LINE_GRADIENT_TYPE" val="0"/>
  <p:tag name="KSO_WM_UNIT_LINE_GRADIENT_ANGLE" val="0"/>
  <p:tag name="KSO_WM_UNIT_LINE_GRADIENT_DIRECTION" val="3"/>
  <p:tag name="KSO_WM_UNIT_LINE_FILL_TYPE" val="5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i*1_2_1"/>
  <p:tag name="KSO_WM_TEMPLATE_CATEGORY" val="diagram"/>
  <p:tag name="KSO_WM_TEMPLATE_INDEX" val="20230945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2_1"/>
  <p:tag name="KSO_WM_DIAGRAM_MAX_ITEMCNT" val="4"/>
  <p:tag name="KSO_WM_DIAGRAM_MIN_ITEMCNT" val="2"/>
  <p:tag name="KSO_WM_DIAGRAM_VIRTUALLY_FRAME" val="{&quot;height&quot;:388.3464660644531,&quot;left&quot;:-43.0561689914493,&quot;top&quot;:31.356845707930916,&quot;width&quot;:807.496826171875}"/>
  <p:tag name="KSO_WM_DIAGRAM_COLOR_MATCH_VALUE" val="{&quot;shape&quot;:{&quot;fill&quot;:{&quot;type&quot;:0},&quot;glow&quot;:{&quot;colorType&quot;:0},&quot;line&quot;:{&quot;gradient&quot;:[{&quot;brightness&quot;:0.5,&quot;colorType&quot;:1,&quot;foreColorIndex&quot;:13,&quot;pos&quot;:1,&quot;transparency&quot;:0.699999988079071},{&quot;brightness&quot;:0.800000011920929,&quot;colorType&quot;:2,&quot;pos&quot;:0.15000000596046448,&quot;rgb&quot;:&quot;#ffffff&quot;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88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h_i*1_2_2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SUBTYPE" val="d"/>
  <p:tag name="KSO_WM_UNIT_TYPE" val="n_h_h_i"/>
  <p:tag name="KSO_WM_UNIT_INDEX" val="1_2_2_1"/>
  <p:tag name="KSO_WM_DIAGRAM_MAX_ITEMCNT" val="4"/>
  <p:tag name="KSO_WM_DIAGRAM_MIN_ITEMCNT" val="2"/>
  <p:tag name="KSO_WM_DIAGRAM_VIRTUALLY_FRAME" val="{&quot;height&quot;:388.3464660644531,&quot;left&quot;:-43.0561689914493,&quot;top&quot;:31.356845707930916,&quot;width&quot;:807.49682617187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6,&quot;pos&quot;:0,&quot;transparency&quot;:0},{&quot;brightness&quot;:0,&quot;colorType&quot;:2,&quot;pos&quot;:1,&quot;rgb&quot;:&quot;#ffffff&quot;,&quot;transparency&quot;:0},{&quot;brightness&quot;:0.800000011920929,&quot;colorType&quot;:1,&quot;foreColorIndex&quot;:6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6"/>
  <p:tag name="KSO_WM_UNIT_FILL_FORE_SCHEMECOLOR_INDEX_BRIGHTNESS" val="0"/>
  <p:tag name="KSO_WM_UNIT_LINE_FORE_SCHEMECOLOR_INDEX" val="6"/>
  <p:tag name="KSO_WM_UNIT_USESOURCEFORMAT_APPLY" val="0"/>
</p:tagLst>
</file>

<file path=ppt/tags/tag89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h_i*1_2_1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SUBTYPE" val="d"/>
  <p:tag name="KSO_WM_UNIT_TYPE" val="n_h_h_i"/>
  <p:tag name="KSO_WM_UNIT_INDEX" val="1_2_1_1"/>
  <p:tag name="KSO_WM_DIAGRAM_MAX_ITEMCNT" val="4"/>
  <p:tag name="KSO_WM_DIAGRAM_MIN_ITEMCNT" val="2"/>
  <p:tag name="KSO_WM_DIAGRAM_VIRTUALLY_FRAME" val="{&quot;height&quot;:388.3464660644531,&quot;left&quot;:-43.0561689914493,&quot;top&quot;:31.356845707930916,&quot;width&quot;:807.496826171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5,&quot;pos&quot;:0,&quot;transparency&quot;:0},{&quot;brightness&quot;:0,&quot;colorType&quot;:2,&quot;pos&quot;:1,&quot;rgb&quot;:&quot;#ffffff&quot;,&quot;transparency&quot;:0},{&quot;brightness&quot;:0.800000011920929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USESOURCEFORMAT_APPLY" val="0"/>
</p:tagLst>
</file>

<file path=ppt/tags/tag90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h_i*1_2_3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SUBTYPE" val="d"/>
  <p:tag name="KSO_WM_UNIT_TYPE" val="n_h_h_i"/>
  <p:tag name="KSO_WM_UNIT_INDEX" val="1_2_3_1"/>
  <p:tag name="KSO_WM_DIAGRAM_MAX_ITEMCNT" val="4"/>
  <p:tag name="KSO_WM_DIAGRAM_MIN_ITEMCNT" val="2"/>
  <p:tag name="KSO_WM_DIAGRAM_VIRTUALLY_FRAME" val="{&quot;height&quot;:388.3464660644531,&quot;left&quot;:-43.0561689914493,&quot;top&quot;:31.356845707930916,&quot;width&quot;:807.496826171875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10,&quot;pos&quot;:0,&quot;transparency&quot;:0},{&quot;brightness&quot;:0,&quot;colorType&quot;:2,&quot;pos&quot;:1,&quot;rgb&quot;:&quot;#ffffff&quot;,&quot;transparency&quot;:0},{&quot;brightness&quot;:0.800000011920929,&quot;colorType&quot;:1,&quot;foreColorIndex&quot;:7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7"/>
  <p:tag name="KSO_WM_UNIT_FILL_FORE_SCHEMECOLOR_INDEX_BRIGHTNESS" val="0"/>
  <p:tag name="KSO_WM_UNIT_LINE_FORE_SCHEMECOLOR_INDEX" val="7"/>
  <p:tag name="KSO_WM_UNIT_USESOURCEFORMAT_APPLY" val="0"/>
</p:tagLst>
</file>

<file path=ppt/tags/tag91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a*1_1_1"/>
  <p:tag name="KSO_WM_TEMPLATE_CATEGORY" val="diagram"/>
  <p:tag name="KSO_WM_TEMPLATE_INDEX" val="20230945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UNIT_ISCONTENTSTITLE" val="0"/>
  <p:tag name="KSO_WM_UNIT_ISNUMDGMTITLE" val="0"/>
  <p:tag name="KSO_WM_UNIT_NOCLEAR" val="0"/>
  <p:tag name="KSO_WM_UNIT_VALUE" val="30"/>
  <p:tag name="KSO_WM_DIAGRAM_GROUP_CODE" val="n1-1"/>
  <p:tag name="KSO_WM_UNIT_TYPE" val="n_h_a"/>
  <p:tag name="KSO_WM_UNIT_INDEX" val="1_1_1"/>
  <p:tag name="KSO_WM_DIAGRAM_MAX_ITEMCNT" val="4"/>
  <p:tag name="KSO_WM_DIAGRAM_MIN_ITEMCNT" val="2"/>
  <p:tag name="KSO_WM_DIAGRAM_VIRTUALLY_FRAME" val="{&quot;height&quot;:388.3464660644531,&quot;left&quot;:-43.0561689914493,&quot;top&quot;:31.356845707930916,&quot;width&quot;:807.496826171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PRESET_TEXT" val="单击添加&#10;项标题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USESOURCEFORMAT_APPLY" val="0"/>
</p:tagLst>
</file>

<file path=ppt/tags/tag92.xml><?xml version="1.0" encoding="utf-8"?>
<p:tagLst xmlns:p="http://schemas.openxmlformats.org/presentationml/2006/main">
  <p:tag name="KSO_WM_SLIDE_ID" val="diagram20230945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0945"/>
  <p:tag name="KSO_WM_SLIDE_TYPE" val="text"/>
  <p:tag name="KSO_WM_SLIDE_SUBTYPE" val="diag"/>
  <p:tag name="KSO_WM_SLIDE_SIZE" val="807.475*350.438"/>
  <p:tag name="KSO_WM_SLIDE_POSITION" val="77.1747*136.212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4980_1*l_h_i*1_2_1"/>
  <p:tag name="KSO_WM_TEMPLATE_CATEGORY" val="diagram"/>
  <p:tag name="KSO_WM_TEMPLATE_INDEX" val="20234980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319.5987401574803,&quot;left&quot;:22.077952755905507,&quot;top&quot;:66.55338582677166,&quot;width&quot;:673.812047244094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4980_1*l_h_i*1_1_1"/>
  <p:tag name="KSO_WM_TEMPLATE_CATEGORY" val="diagram"/>
  <p:tag name="KSO_WM_TEMPLATE_INDEX" val="20234980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319.5987401574803,&quot;left&quot;:22.077952755905507,&quot;top&quot;:66.55338582677166,&quot;width&quot;:673.812047244094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4980_1*l_h_a*1_1_1"/>
  <p:tag name="KSO_WM_TEMPLATE_CATEGORY" val="diagram"/>
  <p:tag name="KSO_WM_TEMPLATE_INDEX" val="20234980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VALUE" val="16"/>
  <p:tag name="KSO_WM_DIAGRAM_GROUP_CODE" val="l1-1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319.5987401574803,&quot;left&quot;:22.077952755905507,&quot;top&quot;:66.55338582677166,&quot;width&quot;:673.812047244094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6.xml><?xml version="1.0" encoding="utf-8"?>
<p:tagLst xmlns:p="http://schemas.openxmlformats.org/presentationml/2006/main">
  <p:tag name="KSO_WM_UNIT_SUBTYPE" val="a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980_1*l_h_f*1_1_1"/>
  <p:tag name="KSO_WM_TEMPLATE_CATEGORY" val="diagram"/>
  <p:tag name="KSO_WM_TEMPLATE_INDEX" val="20234980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319.5987401574803,&quot;left&quot;:22.077952755905507,&quot;top&quot;:66.55338582677166,&quot;width&quot;:673.81204724409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内容阐述你的观点"/>
  <p:tag name="KSO_WM_DIAGRAM_USE_COLOR_VALUE" val="{&quot;color_scheme&quot;:1,&quot;color_type&quot;:1,&quot;theme_color_indexes&quot;:[5,6,5,6,5,6]}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4980_1*l_h_a*1_2_1"/>
  <p:tag name="KSO_WM_TEMPLATE_CATEGORY" val="diagram"/>
  <p:tag name="KSO_WM_TEMPLATE_INDEX" val="20234980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VALUE" val="16"/>
  <p:tag name="KSO_WM_DIAGRAM_GROUP_CODE" val="l1-1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319.5987401574803,&quot;left&quot;:22.077952755905507,&quot;top&quot;:66.55338582677166,&quot;width&quot;:673.812047244094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8.xml><?xml version="1.0" encoding="utf-8"?>
<p:tagLst xmlns:p="http://schemas.openxmlformats.org/presentationml/2006/main">
  <p:tag name="KSO_WM_UNIT_SUBTYPE" val="a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4980_1*l_h_f*1_2_1"/>
  <p:tag name="KSO_WM_TEMPLATE_CATEGORY" val="diagram"/>
  <p:tag name="KSO_WM_TEMPLATE_INDEX" val="20234980"/>
  <p:tag name="KSO_WM_UNIT_LAYERLEVEL" val="1_1_1"/>
  <p:tag name="KSO_WM_TAG_VERSION" val="3.0"/>
  <p:tag name="KSO_WM_DIAGRAM_GROUP_CODE" val="l1-1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319.5987401574803,&quot;left&quot;:22.077952755905507,&quot;top&quot;:66.55338582677166,&quot;width&quot;:673.81204724409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你的文本具体内容"/>
  <p:tag name="KSO_WM_DIAGRAM_USE_COLOR_VALUE" val="{&quot;color_scheme&quot;:1,&quot;color_type&quot;:1,&quot;theme_color_indexes&quot;:[5,6,5,6,5,6]}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0_2*l_h_a*1_1_1"/>
  <p:tag name="KSO_WM_TEMPLATE_CATEGORY" val="diagram"/>
  <p:tag name="KSO_WM_TEMPLATE_INDEX" val="4049303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TYPE" val="1"/>
  <p:tag name="KSO_WM_DIAGRAM_VIRTUALLY_FRAME" val="{&quot;height&quot;:282.1067629791981,&quot;left&quot;:63.53055118110236,&quot;top&quot;:75.11276457985703,&quot;width&quot;:603.7519685039371}"/>
  <p:tag name="KSO_WM_UNIT_VALUE" val="10"/>
  <p:tag name="KSO_WM_UNIT_LINE_FORE_SCHEMECOLOR_INDEX" val="-2"/>
  <p:tag name="KSO_WM_UNIT_TEXT_FILL_FORE_SCHEMECOLOR_INDEX" val="1"/>
  <p:tag name="KSO_WM_UNIT_TEXT_FILL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0_2*l_h_f*1_1_1"/>
  <p:tag name="KSO_WM_TEMPLATE_CATEGORY" val="diagram"/>
  <p:tag name="KSO_WM_TEMPLATE_INDEX" val="4049303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添加文本，简明扼要地阐述您的观点。根据需要可酌情增减文字，以便观者准确地理解您传达的思想"/>
  <p:tag name="KSO_WM_UNIT_TEXT_TYPE" val="1"/>
  <p:tag name="KSO_WM_DIAGRAM_VIRTUALLY_FRAME" val="{&quot;height&quot;:282.1067629791981,&quot;left&quot;:63.53055118110236,&quot;top&quot;:75.11276457985703,&quot;width&quot;:603.7519685039371}"/>
  <p:tag name="KSO_WM_UNIT_LINE_FORE_SCHEMECOLOR_INDEX" val="-2"/>
  <p:tag name="KSO_WM_UNIT_TEXT_FILL_FORE_SCHEMECOLOR_INDEX" val="1"/>
  <p:tag name="KSO_WM_UNIT_TEXT_FILL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0_2*l_h_a*1_2_1"/>
  <p:tag name="KSO_WM_TEMPLATE_CATEGORY" val="diagram"/>
  <p:tag name="KSO_WM_TEMPLATE_INDEX" val="4049303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2_1"/>
  <p:tag name="KSO_WM_UNIT_PRESET_TEXT" val="添加标题"/>
  <p:tag name="KSO_WM_UNIT_TEXT_TYPE" val="1"/>
  <p:tag name="KSO_WM_DIAGRAM_VIRTUALLY_FRAME" val="{&quot;height&quot;:282.1067629791981,&quot;left&quot;:63.53055118110236,&quot;top&quot;:75.11276457985703,&quot;width&quot;:603.7519685039371}"/>
  <p:tag name="KSO_WM_UNIT_LINE_FORE_SCHEMECOLOR_INDEX" val="-2"/>
  <p:tag name="KSO_WM_UNIT_TEXT_FILL_FORE_SCHEMECOLOR_INDEX" val="1"/>
  <p:tag name="KSO_WM_UNIT_TEXT_FILL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0_2*l_h_f*1_2_1"/>
  <p:tag name="KSO_WM_TEMPLATE_CATEGORY" val="diagram"/>
  <p:tag name="KSO_WM_TEMPLATE_INDEX" val="4049303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2_1"/>
  <p:tag name="KSO_WM_UNIT_PRESET_TEXT" val="单击添加文本内容，简明扼要地阐述您的观点。根据需要可酌情增减文字，以便观者准确地理解您传达的思想"/>
  <p:tag name="KSO_WM_UNIT_TEXT_TYPE" val="1"/>
  <p:tag name="KSO_WM_DIAGRAM_VIRTUALLY_FRAME" val="{&quot;height&quot;:282.1067629791981,&quot;left&quot;:63.53055118110236,&quot;top&quot;:75.11276457985703,&quot;width&quot;:603.7519685039371}"/>
  <p:tag name="KSO_WM_UNIT_VALUE" val="52"/>
  <p:tag name="KSO_WM_UNIT_LINE_FORE_SCHEMECOLOR_INDEX" val="-2"/>
  <p:tag name="KSO_WM_UNIT_TEXT_FILL_FORE_SCHEMECOLOR_INDEX" val="1"/>
  <p:tag name="KSO_WM_UNIT_TEXT_FILL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0_2*l_h_i*1_2_1"/>
  <p:tag name="KSO_WM_TEMPLATE_CATEGORY" val="diagram"/>
  <p:tag name="KSO_WM_TEMPLATE_INDEX" val="4049303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1"/>
  <p:tag name="KSO_WM_DIAGRAM_VIRTUALLY_FRAME" val="{&quot;height&quot;:282.1067629791981,&quot;left&quot;:63.53055118110236,&quot;top&quot;:75.11276457985703,&quot;width&quot;:603.7519685039371}"/>
  <p:tag name="KSO_WM_UNIT_LINE_FORE_SCHEMECOLOR_INDEX" val="13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85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0_2*l_h_a*1_3_1"/>
  <p:tag name="KSO_WM_TEMPLATE_CATEGORY" val="diagram"/>
  <p:tag name="KSO_WM_TEMPLATE_INDEX" val="4049303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3_1"/>
  <p:tag name="KSO_WM_UNIT_PRESET_TEXT" val="添加标题"/>
  <p:tag name="KSO_WM_UNIT_TEXT_TYPE" val="1"/>
  <p:tag name="KSO_WM_DIAGRAM_VIRTUALLY_FRAME" val="{&quot;height&quot;:282.1067629791981,&quot;left&quot;:63.53055118110236,&quot;top&quot;:75.11276457985703,&quot;width&quot;:603.7519685039371}"/>
  <p:tag name="KSO_WM_UNIT_LINE_FORE_SCHEMECOLOR_INDEX" val="-2"/>
  <p:tag name="KSO_WM_UNIT_TEXT_FILL_FORE_SCHEMECOLOR_INDEX" val="1"/>
  <p:tag name="KSO_WM_UNIT_TEXT_FILL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0_2*l_h_f*1_3_1"/>
  <p:tag name="KSO_WM_TEMPLATE_CATEGORY" val="diagram"/>
  <p:tag name="KSO_WM_TEMPLATE_INDEX" val="4049303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3_1"/>
  <p:tag name="KSO_WM_UNIT_PRESET_TEXT" val="简明扼要地阐述您的观点。根据需要可酌情增减文字，以便观者准确地理解您传达的思想。单击此处添加文本"/>
  <p:tag name="KSO_WM_UNIT_TEXT_TYPE" val="1"/>
  <p:tag name="KSO_WM_DIAGRAM_VIRTUALLY_FRAME" val="{&quot;height&quot;:282.1067629791981,&quot;left&quot;:63.53055118110236,&quot;top&quot;:75.11276457985703,&quot;width&quot;:603.7519685039371}"/>
  <p:tag name="KSO_WM_UNIT_VALUE" val="52"/>
  <p:tag name="KSO_WM_UNIT_LINE_FORE_SCHEMECOLOR_INDEX" val="-2"/>
  <p:tag name="KSO_WM_UNIT_TEXT_FILL_FORE_SCHEMECOLOR_INDEX" val="1"/>
  <p:tag name="KSO_WM_UNIT_TEXT_FILL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0_2*l_h_i*1_3_1"/>
  <p:tag name="KSO_WM_TEMPLATE_CATEGORY" val="diagram"/>
  <p:tag name="KSO_WM_TEMPLATE_INDEX" val="4049303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1"/>
  <p:tag name="KSO_WM_DIAGRAM_VIRTUALLY_FRAME" val="{&quot;height&quot;:282.1067629791981,&quot;left&quot;:63.53055118110236,&quot;top&quot;:75.11276457985703,&quot;width&quot;:603.7519685039371}"/>
  <p:tag name="KSO_WM_UNIT_LINE_FORE_SCHEMECOLOR_INDEX" val="13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85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07.xml><?xml version="1.0" encoding="utf-8"?>
<p:tagLst xmlns:p="http://schemas.openxmlformats.org/presentationml/2006/main">
  <p:tag name="KSO_WM_DIAGRAM_VIRTUALLY_FRAME" val="{&quot;height&quot;:320.7299212598425,&quot;left&quot;:34.64984251968504,&quot;top&quot;:60.96834645669291,&quot;width&quot;:649.1970866141731}"/>
</p:tagLst>
</file>

<file path=ppt/tags/tag108.xml><?xml version="1.0" encoding="utf-8"?>
<p:tagLst xmlns:p="http://schemas.openxmlformats.org/presentationml/2006/main">
  <p:tag name="KSO_WM_DIAGRAM_VIRTUALLY_FRAME" val="{&quot;height&quot;:320.7299212598425,&quot;left&quot;:34.64984251968504,&quot;top&quot;:60.96834645669291,&quot;width&quot;:649.1970866141731}"/>
</p:tagLst>
</file>

<file path=ppt/tags/tag109.xml><?xml version="1.0" encoding="utf-8"?>
<p:tagLst xmlns:p="http://schemas.openxmlformats.org/presentationml/2006/main">
  <p:tag name="KSO_WM_DIAGRAM_VIRTUALLY_FRAME" val="{&quot;height&quot;:320.7299212598425,&quot;left&quot;:34.64984251968504,&quot;top&quot;:60.96834645669291,&quot;width&quot;:649.1970866141731}"/>
</p:tagLst>
</file>

<file path=ppt/tags/tag110.xml><?xml version="1.0" encoding="utf-8"?>
<p:tagLst xmlns:p="http://schemas.openxmlformats.org/presentationml/2006/main">
  <p:tag name="KSO_WM_DIAGRAM_VIRTUALLY_FRAME" val="{&quot;height&quot;:320.7299212598425,&quot;left&quot;:34.64984251968504,&quot;top&quot;:60.96834645669291,&quot;width&quot;:649.1970866141731}"/>
</p:tagLst>
</file>

<file path=ppt/tags/tag111.xml><?xml version="1.0" encoding="utf-8"?>
<p:tagLst xmlns:p="http://schemas.openxmlformats.org/presentationml/2006/main">
  <p:tag name="KSO_WM_DIAGRAM_VIRTUALLY_FRAME" val="{&quot;height&quot;:320.7299212598425,&quot;left&quot;:34.64984251968504,&quot;top&quot;:60.96834645669291,&quot;width&quot;:649.1970866141731}"/>
</p:tagLst>
</file>

<file path=ppt/tags/tag112.xml><?xml version="1.0" encoding="utf-8"?>
<p:tagLst xmlns:p="http://schemas.openxmlformats.org/presentationml/2006/main">
  <p:tag name="KSO_WM_DIAGRAM_VIRTUALLY_FRAME" val="{&quot;height&quot;:320.7299212598425,&quot;left&quot;:34.64984251968504,&quot;top&quot;:60.96834645669291,&quot;width&quot;:649.1970866141731}"/>
</p:tagLst>
</file>

<file path=ppt/tags/tag113.xml><?xml version="1.0" encoding="utf-8"?>
<p:tagLst xmlns:p="http://schemas.openxmlformats.org/presentationml/2006/main">
  <p:tag name="KSO_WM_DIAGRAM_VIRTUALLY_FRAME" val="{&quot;height&quot;:320.7299212598425,&quot;left&quot;:34.64984251968504,&quot;top&quot;:60.96834645669291,&quot;width&quot;:649.1970866141731}"/>
</p:tagLst>
</file>

<file path=ppt/tags/tag114.xml><?xml version="1.0" encoding="utf-8"?>
<p:tagLst xmlns:p="http://schemas.openxmlformats.org/presentationml/2006/main">
  <p:tag name="KSO_WM_DIAGRAM_VIRTUALLY_FRAME" val="{&quot;height&quot;:320.7299212598425,&quot;left&quot;:34.64984251968504,&quot;top&quot;:60.96834645669291,&quot;width&quot;:649.1970866141731}"/>
</p:tagLst>
</file>

<file path=ppt/tags/tag115.xml><?xml version="1.0" encoding="utf-8"?>
<p:tagLst xmlns:p="http://schemas.openxmlformats.org/presentationml/2006/main">
  <p:tag name="KSO_WM_DIAGRAM_VIRTUALLY_FRAME" val="{&quot;height&quot;:320.7299212598425,&quot;left&quot;:34.64984251968504,&quot;top&quot;:60.96834645669291,&quot;width&quot;:649.1970866141731}"/>
</p:tagLst>
</file>

<file path=ppt/tags/tag116.xml><?xml version="1.0" encoding="utf-8"?>
<p:tagLst xmlns:p="http://schemas.openxmlformats.org/presentationml/2006/main">
  <p:tag name="KSO_WM_DIAGRAM_VIRTUALLY_FRAME" val="{&quot;height&quot;:320.7299212598425,&quot;left&quot;:34.64984251968504,&quot;top&quot;:60.96834645669291,&quot;width&quot;:649.1970866141731}"/>
</p:tagLst>
</file>

<file path=ppt/tags/tag117.xml><?xml version="1.0" encoding="utf-8"?>
<p:tagLst xmlns:p="http://schemas.openxmlformats.org/presentationml/2006/main">
  <p:tag name="KSO_WM_DIAGRAM_VIRTUALLY_FRAME" val="{&quot;height&quot;:320.7299212598425,&quot;left&quot;:34.64984251968504,&quot;top&quot;:60.96834645669291,&quot;width&quot;:649.1970866141731}"/>
</p:tagLst>
</file>

<file path=ppt/tags/tag118.xml><?xml version="1.0" encoding="utf-8"?>
<p:tagLst xmlns:p="http://schemas.openxmlformats.org/presentationml/2006/main">
  <p:tag name="KSO_WM_DIAGRAM_VIRTUALLY_FRAME" val="{&quot;height&quot;:320.7299212598425,&quot;left&quot;:34.64984251968504,&quot;top&quot;:60.96834645669291,&quot;width&quot;:649.1970866141731}"/>
</p:tagLst>
</file>

<file path=ppt/tags/tag119.xml><?xml version="1.0" encoding="utf-8"?>
<p:tagLst xmlns:p="http://schemas.openxmlformats.org/presentationml/2006/main">
  <p:tag name="KSO_WM_DIAGRAM_VIRTUALLY_FRAME" val="{&quot;height&quot;:320.7299212598425,&quot;left&quot;:34.64984251968504,&quot;top&quot;:60.96834645669291,&quot;width&quot;:649.1970866141731}"/>
</p:tagLst>
</file>

<file path=ppt/tags/tag120.xml><?xml version="1.0" encoding="utf-8"?>
<p:tagLst xmlns:p="http://schemas.openxmlformats.org/presentationml/2006/main">
  <p:tag name="KSO_WM_DIAGRAM_VIRTUALLY_FRAME" val="{&quot;height&quot;:320.7299212598425,&quot;left&quot;:34.64984251968504,&quot;top&quot;:60.96834645669291,&quot;width&quot;:649.1970866141731}"/>
</p:tagLst>
</file>

<file path=ppt/tags/tag121.xml><?xml version="1.0" encoding="utf-8"?>
<p:tagLst xmlns:p="http://schemas.openxmlformats.org/presentationml/2006/main">
  <p:tag name="KSO_WM_DIAGRAM_VIRTUALLY_FRAME" val="{&quot;height&quot;:320.7299212598425,&quot;left&quot;:34.64984251968504,&quot;top&quot;:60.96834645669291,&quot;width&quot;:649.1970866141731}"/>
</p:tagLst>
</file>

<file path=ppt/tags/tag122.xml><?xml version="1.0" encoding="utf-8"?>
<p:tagLst xmlns:p="http://schemas.openxmlformats.org/presentationml/2006/main">
  <p:tag name="KSO_WM_DIAGRAM_VIRTUALLY_FRAME" val="{&quot;height&quot;:320.7299212598425,&quot;left&quot;:34.64984251968504,&quot;top&quot;:60.96834645669291,&quot;width&quot;:649.1970866141731}"/>
</p:tagLst>
</file>

<file path=ppt/tags/tag123.xml><?xml version="1.0" encoding="utf-8"?>
<p:tagLst xmlns:p="http://schemas.openxmlformats.org/presentationml/2006/main">
  <p:tag name="KSO_WM_DIAGRAM_VIRTUALLY_FRAME" val="{&quot;height&quot;:320.7299212598425,&quot;left&quot;:34.64984251968504,&quot;top&quot;:60.96834645669291,&quot;width&quot;:649.1970866141731}"/>
</p:tagLst>
</file>

<file path=ppt/tags/tag124.xml><?xml version="1.0" encoding="utf-8"?>
<p:tagLst xmlns:p="http://schemas.openxmlformats.org/presentationml/2006/main">
  <p:tag name="KSO_WM_DIAGRAM_VIRTUALLY_FRAME" val="{&quot;height&quot;:320.7299212598425,&quot;left&quot;:34.64984251968504,&quot;top&quot;:60.96834645669291,&quot;width&quot;:649.1970866141731}"/>
</p:tagLst>
</file>

<file path=ppt/tags/tag125.xml><?xml version="1.0" encoding="utf-8"?>
<p:tagLst xmlns:p="http://schemas.openxmlformats.org/presentationml/2006/main">
  <p:tag name="KSO_WM_DIAGRAM_VIRTUALLY_FRAME" val="{&quot;height&quot;:320.7299212598425,&quot;left&quot;:34.64984251968504,&quot;top&quot;:60.96834645669291,&quot;width&quot;:649.1970866141731}"/>
</p:tagLst>
</file>

<file path=ppt/tags/tag126.xml><?xml version="1.0" encoding="utf-8"?>
<p:tagLst xmlns:p="http://schemas.openxmlformats.org/presentationml/2006/main">
  <p:tag name="KSO_WM_DIAGRAM_VIRTUALLY_FRAME" val="{&quot;height&quot;:320.7299212598425,&quot;left&quot;:34.64984251968504,&quot;top&quot;:60.96834645669291,&quot;width&quot;:649.1970866141731}"/>
</p:tagLst>
</file>

<file path=ppt/tags/tag127.xml><?xml version="1.0" encoding="utf-8"?>
<p:tagLst xmlns:p="http://schemas.openxmlformats.org/presentationml/2006/main">
  <p:tag name="KSO_WM_DIAGRAM_VIRTUALLY_FRAME" val="{&quot;height&quot;:320.7299212598425,&quot;left&quot;:34.64984251968504,&quot;top&quot;:60.96834645669291,&quot;width&quot;:649.1970866141731}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9_1*m_i*1_1"/>
  <p:tag name="KSO_WM_TEMPLATE_CATEGORY" val="diagram"/>
  <p:tag name="KSO_WM_TEMPLATE_INDEX" val="20235399"/>
  <p:tag name="KSO_WM_UNIT_LAYERLEVEL" val="1_1"/>
  <p:tag name="KSO_WM_TAG_VERSION" val="3.0"/>
  <p:tag name="KSO_WM_BEAUTIFY_FLAG" val="#wm#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DIAGRAM_VIRTUALLY_FRAME" val="{&quot;height&quot;:528.4868704617967,&quot;left&quot;:-224.47214618356193,&quot;top&quot;:6.612677165354308,&quot;width&quot;:984.9531698056091}"/>
  <p:tag name="KSO_WM_DIAGRAM_MAX_ITEMCNT" val="12"/>
  <p:tag name="KSO_WM_DIAGRAM_MIN_ITEMCNT" val="3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.4000000059604645,&quot;colorType&quot;:1,&quot;foreColorIndex&quot;:5,&quot;pos&quot;:0.44999998807907104,&quot;transparency&quot;:0},{&quot;brightness&quot;:0.6000000238418579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9_1*m_h_i*1_1_1"/>
  <p:tag name="KSO_WM_TEMPLATE_CATEGORY" val="diagram"/>
  <p:tag name="KSO_WM_TEMPLATE_INDEX" val="20235399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1_1"/>
  <p:tag name="KSO_WM_DIAGRAM_VERSION" val="3"/>
  <p:tag name="KSO_WM_DIAGRAM_COLOR_TRICK" val="1"/>
  <p:tag name="KSO_WM_DIAGRAM_COLOR_TEXT_CAN_REMOVE" val="n"/>
  <p:tag name="KSO_WM_DIAGRAM_VIRTUALLY_FRAME" val="{&quot;height&quot;:528.4868704617967,&quot;left&quot;:-224.47214618356193,&quot;top&quot;:6.612677165354308,&quot;width&quot;:984.9531698056091}"/>
  <p:tag name="KSO_WM_UNIT_LINE_FORE_SCHEMECOLOR_INDEX" val="5"/>
  <p:tag name="KSO_WM_DIAGRAM_MAX_ITEMCNT" val="12"/>
  <p:tag name="KSO_WM_DIAGRAM_MIN_ITEMCNT" val="3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3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5399_1*m_h_f*1_1_1"/>
  <p:tag name="KSO_WM_TEMPLATE_CATEGORY" val="diagram"/>
  <p:tag name="KSO_WM_TEMPLATE_INDEX" val="20235399"/>
  <p:tag name="KSO_WM_UNIT_LAYERLEVEL" val="1_1_1"/>
  <p:tag name="KSO_WM_TAG_VERSION" val="3.0"/>
  <p:tag name="KSO_WM_BEAUTIFY_FLAG" val="#wm#"/>
  <p:tag name="KSO_WM_UNIT_TEXT_LAYER_COUNT" val="1"/>
  <p:tag name="KSO_WM_DIAGRAM_GROUP_CODE" val="m1-1"/>
  <p:tag name="KSO_WM_DIAGRAM_VERSION" val="3"/>
  <p:tag name="KSO_WM_DIAGRAM_COLOR_TRICK" val="1"/>
  <p:tag name="KSO_WM_DIAGRAM_COLOR_TEXT_CAN_REMOVE" val="n"/>
  <p:tag name="KSO_WM_DIAGRAM_VIRTUALLY_FRAME" val="{&quot;height&quot;:528.4868704617967,&quot;left&quot;:-224.47214618356193,&quot;top&quot;:6.612677165354308,&quot;width&quot;:984.9531698056091}"/>
  <p:tag name="KSO_WM_UNIT_TEXT_TYPE" val="1"/>
  <p:tag name="KSO_WM_UNIT_PRESET_TEXT" val="单击此处输入你的项正文具体内容"/>
  <p:tag name="KSO_WM_UNIT_TEXT_FILL_FORE_SCHEMECOLOR_INDEX" val="1"/>
  <p:tag name="KSO_WM_UNIT_TEXT_FILL_TYPE" val="1"/>
  <p:tag name="KSO_WM_DIAGRAM_MAX_ITEMCNT" val="12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9_1*m_h_i*1_2_1"/>
  <p:tag name="KSO_WM_TEMPLATE_CATEGORY" val="diagram"/>
  <p:tag name="KSO_WM_TEMPLATE_INDEX" val="20235399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2_1"/>
  <p:tag name="KSO_WM_DIAGRAM_VERSION" val="3"/>
  <p:tag name="KSO_WM_DIAGRAM_COLOR_TRICK" val="1"/>
  <p:tag name="KSO_WM_DIAGRAM_COLOR_TEXT_CAN_REMOVE" val="n"/>
  <p:tag name="KSO_WM_DIAGRAM_VIRTUALLY_FRAME" val="{&quot;height&quot;:528.4868704617967,&quot;left&quot;:-224.47214618356193,&quot;top&quot;:6.612677165354308,&quot;width&quot;:984.9531698056091}"/>
  <p:tag name="KSO_WM_UNIT_LINE_FORE_SCHEMECOLOR_INDEX" val="5"/>
  <p:tag name="KSO_WM_DIAGRAM_MAX_ITEMCNT" val="12"/>
  <p:tag name="KSO_WM_DIAGRAM_MIN_ITEMCNT" val="3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3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5399_1*m_h_f*1_2_1"/>
  <p:tag name="KSO_WM_TEMPLATE_CATEGORY" val="diagram"/>
  <p:tag name="KSO_WM_TEMPLATE_INDEX" val="20235399"/>
  <p:tag name="KSO_WM_UNIT_LAYERLEVEL" val="1_1_1"/>
  <p:tag name="KSO_WM_TAG_VERSION" val="3.0"/>
  <p:tag name="KSO_WM_BEAUTIFY_FLAG" val="#wm#"/>
  <p:tag name="KSO_WM_UNIT_TEXT_LAYER_COUNT" val="1"/>
  <p:tag name="KSO_WM_DIAGRAM_GROUP_CODE" val="m1-1"/>
  <p:tag name="KSO_WM_DIAGRAM_VERSION" val="3"/>
  <p:tag name="KSO_WM_DIAGRAM_COLOR_TRICK" val="1"/>
  <p:tag name="KSO_WM_DIAGRAM_COLOR_TEXT_CAN_REMOVE" val="n"/>
  <p:tag name="KSO_WM_DIAGRAM_VIRTUALLY_FRAME" val="{&quot;height&quot;:528.4868704617967,&quot;left&quot;:-224.47214618356193,&quot;top&quot;:6.612677165354308,&quot;width&quot;:984.9531698056091}"/>
  <p:tag name="KSO_WM_UNIT_TEXT_TYPE" val="1"/>
  <p:tag name="KSO_WM_UNIT_PRESET_TEXT" val="单击此处输入你的项正文"/>
  <p:tag name="KSO_WM_UNIT_TEXT_FILL_FORE_SCHEMECOLOR_INDEX" val="1"/>
  <p:tag name="KSO_WM_UNIT_TEXT_FILL_TYPE" val="1"/>
  <p:tag name="KSO_WM_DIAGRAM_MAX_ITEMCNT" val="12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9_1*m_h_i*1_3_1"/>
  <p:tag name="KSO_WM_TEMPLATE_CATEGORY" val="diagram"/>
  <p:tag name="KSO_WM_TEMPLATE_INDEX" val="20235399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3_1"/>
  <p:tag name="KSO_WM_DIAGRAM_VERSION" val="3"/>
  <p:tag name="KSO_WM_DIAGRAM_COLOR_TRICK" val="1"/>
  <p:tag name="KSO_WM_DIAGRAM_COLOR_TEXT_CAN_REMOVE" val="n"/>
  <p:tag name="KSO_WM_DIAGRAM_VIRTUALLY_FRAME" val="{&quot;height&quot;:528.4868704617967,&quot;left&quot;:-224.47214618356193,&quot;top&quot;:6.612677165354308,&quot;width&quot;:984.9531698056091}"/>
  <p:tag name="KSO_WM_UNIT_LINE_FORE_SCHEMECOLOR_INDEX" val="5"/>
  <p:tag name="KSO_WM_DIAGRAM_MAX_ITEMCNT" val="12"/>
  <p:tag name="KSO_WM_DIAGRAM_MIN_ITEMCNT" val="3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3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5399_1*m_h_f*1_3_1"/>
  <p:tag name="KSO_WM_TEMPLATE_CATEGORY" val="diagram"/>
  <p:tag name="KSO_WM_TEMPLATE_INDEX" val="20235399"/>
  <p:tag name="KSO_WM_UNIT_LAYERLEVEL" val="1_1_1"/>
  <p:tag name="KSO_WM_TAG_VERSION" val="3.0"/>
  <p:tag name="KSO_WM_BEAUTIFY_FLAG" val="#wm#"/>
  <p:tag name="KSO_WM_UNIT_TEXT_LAYER_COUNT" val="1"/>
  <p:tag name="KSO_WM_DIAGRAM_GROUP_CODE" val="m1-1"/>
  <p:tag name="KSO_WM_DIAGRAM_VERSION" val="3"/>
  <p:tag name="KSO_WM_DIAGRAM_COLOR_TRICK" val="1"/>
  <p:tag name="KSO_WM_DIAGRAM_COLOR_TEXT_CAN_REMOVE" val="n"/>
  <p:tag name="KSO_WM_DIAGRAM_VIRTUALLY_FRAME" val="{&quot;height&quot;:528.4868704617967,&quot;left&quot;:-224.47214618356193,&quot;top&quot;:6.612677165354308,&quot;width&quot;:984.9531698056091}"/>
  <p:tag name="KSO_WM_UNIT_TEXT_TYPE" val="1"/>
  <p:tag name="KSO_WM_UNIT_PRESET_TEXT" val="单击此处输入你的项正文具体内容"/>
  <p:tag name="KSO_WM_UNIT_TEXT_FILL_FORE_SCHEMECOLOR_INDEX" val="1"/>
  <p:tag name="KSO_WM_UNIT_TEXT_FILL_TYPE" val="1"/>
  <p:tag name="KSO_WM_DIAGRAM_MAX_ITEMCNT" val="12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35.xml><?xml version="1.0" encoding="utf-8"?>
<p:tagLst xmlns:p="http://schemas.openxmlformats.org/presentationml/2006/main">
  <p:tag name="KSO_WM_SLIDE_ID" val="diagram20234439_1"/>
  <p:tag name="KSO_WM_TEMPLATE_SUBCATEGORY" val="0"/>
  <p:tag name="KSO_WM_TEMPLATE_MASTER_TYPE" val="0"/>
  <p:tag name="KSO_WM_TEMPLATE_COLOR_TYPE" val="0"/>
  <p:tag name="KSO_WM_SLIDE_ITEM_CNT" val="5"/>
  <p:tag name="KSO_WM_SLIDE_INDEX" val="1"/>
  <p:tag name="KSO_WM_TAG_VERSION" val="3.0"/>
  <p:tag name="KSO_WM_BEAUTIFY_FLAG" val="#wm#"/>
  <p:tag name="KSO_WM_TEMPLATE_CATEGORY" val="diagram"/>
  <p:tag name="KSO_WM_TEMPLATE_INDEX" val="20234439"/>
  <p:tag name="KSO_WM_SLIDE_TYPE" val="text"/>
  <p:tag name="KSO_WM_SLIDE_SUBTYPE" val="diag"/>
  <p:tag name="KSO_WM_SLIDE_SIZE" val="917.119*393.841"/>
  <p:tag name="KSO_WM_SLIDE_POSITION" val="7.12307*109.104"/>
  <p:tag name="KSO_WM_SLIDE_LAYOUT" val="a_m"/>
  <p:tag name="KSO_WM_SLIDE_LAYOUT_CNT" val="1_1"/>
  <p:tag name="KSO_WM_SPECIAL_SOURCE" val="bdnull"/>
  <p:tag name="KSO_WM_DIAGRAM_GROUP_CODE" val="m1-1"/>
  <p:tag name="KSO_WM_SLIDE_DIAGTYPE" val="m"/>
  <p:tag name="resource_record_key" val="{&quot;65&quot;:[20234439],&quot;70&quot;:[3312130,3333762,3403294]}"/>
</p:tagLst>
</file>

<file path=ppt/tags/tag136.xml><?xml version="1.0" encoding="utf-8"?>
<p:tagLst xmlns:p="http://schemas.openxmlformats.org/presentationml/2006/main">
  <p:tag name="ISPRING_ULTRA_SCORM_COURSE_ID" val="D4B684C3-2776-4D14-ADDE-A78DA16DF5B2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CqGsUgVDq0oZAQAAAcRAAAdAAAAdW5pdmVyc2FsL2NvbW1vbl9tZXNzYWdlcy5sbmetWG1v2zYQ/l6g/4EQUGADtrQd0KIYEge0xNhEZMmV6DjZCwRGYmwilJjpxW32ab9mP2y/ZEfKTuK+QFISwDZMyvfc8e6eu6MPjz/nCm1EWUldHDlvD944SBSpzmSxOnIW7OTnDw6qal5kXOlCHDmFdtDx6OWLQ8WLVcNXAr6/fIHQYS6qCpbVyKzu10hmR858nLjhbI6Di8QPJ2EyphNn5Or8hhe3yNcr/Uf5wy/vP3x+++79j4evt5J9gOIZ9v19KGSR3r3pARSwKPQTQCN+EpBz5ozM5zC5cMF8GhBntP0yTHoekTNnZD475RZRRAKWxD71SELjJAiZ9YVPGPGc0YVu0JpvBKo12kjxCdVrAZGsZSlQpWRmH6QaNopGdCnzwhmmQRKRmEXUZTQMnFGsy/L2JwvLm3qtS1BXoUxW/FKJzOqEnLHPb0pRgWpeQ04heNVrCb/UOZfFQafqCC9pMElYGPpxQgJvt+OMSJEhr+RGzUCUCMckAoCSV6J8hGxis8yKI6zUMIQpnUx9eDNjwlSu1gre9VA75gRiMBdFlxTkCIkgu+J4GUaecRqoQhzd8Kr6pMtsLz8eBqoLmAZuCCnosgfgzGDsgCHGEipHWYq07gKbkTjGE5KMw3NIZOBdOEQiPAW6nQ6RuCAxUITEXTIBPqMTbBLeUGyX/zt+pdyks7pFPE1BzrhvI3VTwY5xKbDAMq06GKYmJh8XEDaK/e/QuEUF79rVSm4E2FFmouxUBJXFJZ7Joo8L+ltygqlPvATSyguXCbMlz2jM+S0qdI14tuFFKtClSHkDuX4LzzKZ2Wcmzlb/X438G/F6W1VebQtS4JHzV0Pt2ath3zCrqcCmuhb5Td2l2jhsa/5jrDA5/V0T+hz9cfpjlwQ4ouHzRKaSeaPaqvvk+NxZNjRGnUY80VP9o/XclsRtbR1TKFhjqftLEOimpn9AA1T9pWhwAormbYmGGk6LqwE6g3ALEGj0WIwzcNWeCWfgwgHySzKOKYPZaCkuK1l3jh2WjW2Avh3aFOY8JWpxT8ZLcaVhwlGCb9rpA7qQjXRnQB8MN3utglHmg8kBAK7a5AFIJXOwP+uBuZiRnQfaAr93kqVuVGbJq+S1LfLg2yYXX49NV6XO7a7i1S552yZz/BQr2sNFrdL5gPZ/x7/e8XlAv8dHKSY4cqeJiwOXmEHfcFX1FAIKGFf4LE58PDbiwIWc1+kamumVboqsJ1A7q3vkBAPY9syx4GW6/u+ff3tifGFJu4u2u78OAgFimypI7sB+D3Qtqj+7QBge78vZRR+p7d1mJ9fzqsMoZOGz3CF421pyncPWQbdeSPJt0DBj2J3OgAexTXvdlDC6DUGY4egUapmdwp3RjJfXUAiZ1moQinW1ScB6mPb762VTK1mIIbJPayXmwIzOE+x59q4N5FMyvW57ZgY3inR76VZw6e4L5k5xAHX2CzyRyXogoG1NuyoERG/X9zTffN2p7laV/cvi8PWDfzD+B1BLAwQUAAIACAAqhrFICH4LIykDAACGDAAAJwAAAHVuaXZlcnNhbC9mbGFzaF9wdWJsaXNoaW5nX3NldHRpbmdzLnhtbNVX3W7aMBS+5yksT70saTu6diihqgpo1VpAhW3tVWViQ6w6dhbbUHq1p9mD7Ul2HAMFtevSH6RNCBGfn+/8n5jw6DYVaMJyzZWM8G51ByMmY0W5HEf4y6C9fYiRNkRSIpRkEZYKo6NGJczsUHCd9JkxIKoRwEhdz0yEE2OyehBMp9Mq11nuuEpYA/i6Gqs0yHKmmTQsDzJBZvBjZhnTeI5QAgC+qZJztUalglDokc4VtYIhTsFzyV1QRLQF0QkOvNiQxDfjXFlJT5RQOcrHwwi/Ozx2n4WMh2rylEmXE90AoiObOqGUOy+I6PM7hhLGxwm4e1DDaMqpSSK8V3MoIB08RCmwfejEoZwoyIE0c/iUGUKJIf7o7Rl2a/SC4El0JknK4wFwkIs/ws3B9aerXuvi7LTz+XrQ7Z4NTnveiUInWMcJg3VDITikbB6zpZ2QGEPiBPwGnRERmoXBKmkhNlJyzTl3RkMlIPeFFrRROmS0Q1K2Uo3+DZdtkNzFaASBiFmEj3NOBEbcEMHjpbK2Q224KareXpVEgAXtydB5H9+b99mJE5JrturWgqNdzuPGN2UFRTNlkeA3DBmFIH6bwlPC0Gpx0ChXaUGF9jFICw4WJ5xNGT0qcjoH/JOhKzCRWtCEXs0EM97Cd8vv0JCNVA64jEygs4HOtcevPgs4I1rfg5KFj1v9s9Nm6/q002xdbrkACZ0QGT8THArO0sxsBJ/MkFRmoQfpiInVrCgK5bTglYmt+vIyaJ5a4cv81sVYgd5gSTZj5TmF+asHpc0mZFIMohuuAhpGkENJPCYwYlgXXFpWFjAmEikpZojEsNa0G+sJV1YDxQ+wh9Yv99DrIy6L0xhWG1jMKctLQe7s7r2v7X84OPxYrwa/fvzcflJpvvB7gjhzfuOfPLnyl2v/4TYMA7elH1/aJrf/5s7uXbS+lslrp3U5KFXSVr8UXLeMVPdzGakL/5LprbxgSrkAS2nshwzWkuApN4y+ZYu9oE1e9W73PbaZNtlgzK8Zjf8mZH9aXhPX7oVh8OjF1XFSLnkKiXArcXnbbezXduCm+SirUgG09f8OjcpvUEsDBBQAAgAIACqGsUi1/AlkugIAAFUKAAAhAAAAdW5pdmVyc2FsL2ZsYXNoX3NraW5fc2V0dGluZ3MueG1slVZtb+IwDP5+vwJx3+nulZ3UITHGSZN2t+k27XvamjYiTaokZce/vzhN1gQo9LAmEft5bMexzVK1pXzxYTJJc8GEfAatKS8VarxuQoubadZqLfgsF1wD1zMuZE3YdPHxp/2kiUVeYokdyLGcDcmhDzO3nzEUF+PbHGWIkIu6IXz/IEoxy0i+LaVoeXExtWrfgGSUbw3y6sd8tR4MwKjS9xrqKKf1Nco4SiNBKcCUvq9RLrIYyYD5SFf2M5LThzp/+wPajiqqLW35CWWI1pAS4iJfL1GG8dx4j19ljnKeoOGvNtAvn1EGoYzsQcbO776iDDJE0zb/0yONFCUWNOacf8R3DhOkMOOHWV2hXCTghTDQxVdw5bF3vQtA7ms49ymOqxTsCet6sBDw0TMGCy1bSBN/6myqEm+PrTbzAYsNYcoAQlUPejJJP5FWeTexrsf9gTfKi9CX0/SQV8HaGlZdwoG7WN/jV6tbuytCp++6IEMJO6cMUuyVPfK3qesRMlD2yGdGC3jkbH+cwaGpI/lHviXuOc/X31iBE3MsnNWfvBUjPeDoqiBVp/CYWhSwUJjOC60B3y1NrK5LKTnKKeVkR0uiqeC/EJft7WVUmhwYXK+d7qxUU83gVMPZHM2aDstlz3E/OmvckN3PQn+57jzRZovfTInWJK9q87OkphPHM2NiCjNNTjNwTxo4yHu+EQHHxh4i1URuQb4IwcaG4UKDGutedMM1BE+ToAZpcrrKqXNyqvy8rTOQa/NqFJSvcqzsgBUtK2b+9CuFNygOGAPWjqor448T+t6XgcI1ARCZV75ru0NnqVumKYMd+OEPFPbKQ3dLlenSoYZb6gfY6LDlnGZUT7pd0fdKvEMC/Qn8q0krcnxgGdH2mmTK3iyafL+G+1yixezXGTZfuMns2fVS5NjYjytolPjv5D9QSwMEFAACAAgAKoaxSCqWD2f+AgAAlwsAACYAAAB1bml2ZXJzYWwvaHRtbF9wdWJsaXNoaW5nX3NldHRpbmdzLnhtbM2Wb08aMRjA3/Mpmi6+lFPnpiN3GCMYiU6IsE1fmXItXGOvvbU98Hy1T7MPtk+yp1dAiI6dRpaFEOjTPr/nX/u04dF9KtCEacOVjPBufQcjJmNFuRxH+MvgdPsQI2OJpEQoySIsFUZHzVqY5UPBTdJn1sJSgwAjTSOzEU6szRpBMJ1O69xk2s0qkVvgm3qs0iDTzDBpmQ4yQQr4sUXGDJ4RKgDgmyo5U2vWagiFnvRZ0VwwxCl4LrkLiogzmwoc+FVDEt+NtcolPVFCaaTHwwi/Ozx2n/kaT2rxlEmXEtMEoRPbBqGUOyeI6PMHhhLGxwl4e7CP0ZRTm0R4b99RYHXwlFKyfeTEUU4UpEDaGT5lllBiiR96e5bdWzMXeBEtJEl5PIAZ5MKPcGtwe3bTa19ddC7Pbwfd7sWg0/NOlDrBKicMVg2F4JDKdcwWdkJiLYkT8Bt0RkQYFgbLovmykZIrzrkxGioBqS+1MBqBp6KI8LHmRGDELRE8XsxaosfMnnIBMTjd3fpIWvwI9PHGCdGGLRuazxiXxbj5TeWCokLlSPA7hqxCEFGewr+EoeV0o5FWaSkVxFhkBKcMTTibMnpUZmkG/JOhGzCR5qAJmy8TzHoL33P+gIZspDRwGZnAVgU5N55ffxE4I8Y8Qsncx63+RafVvu1cttrXWy5AQidExi+EQwlZmtmN8EmBpLJzPUhHTHLDyqJQTsu5KrHVX18Gw9Nc+DK/dTGW0BssyWasvKQwf/WgstmETMqD6A5XiYYjyKEkngkTMRx3LnNWFRgTiZQUBSIxNCrjjvWEq9yAxB9gjzav99DrIy7L0RhuDrCoKdOVkDu7e+/3P3w8OPzUqAe/fvzcXqs0a+E9QZw538NP1jbxRSN/2g3DwPXO59uw1fm/6sK9q/bXKpm6bF8PKhWp3a+E61ZZ1T2vsurKXxu9pSujkgvQZsb+2ECjETzlltG33DSvKPz6+9dvizcq/AajWLt9/98g/Gjx3Fp5X4XBsw/AGshXH9PN2m9QSwMEFAACAAgAKoaxSGhxUpGaAQAAHwYAAB8AAAB1bml2ZXJzYWwvaHRtbF9za2luX3NldHRpbmdzLmpzjZRNb8IwDIbv/AqUXSfEPmG7ocGkSRwmjdu0QyimVKRJlaQdHeK/rw5fTeqOxRfy8uR17CredrrVYhHrPne37rfbv/t7pwFqVudw7euiRU9RZ0YkC5glKYhEAguQ4nj0JO/OBGXMpDOdlx9oa2p+TOE/Sy5MHc8IC01ohjpcEOA3oW2owz8nsVOra19TrdHz3Fole5GSFqTtSaVT7hh29epWvcQAVgXoC+iSR+CZDtxqI8+ODwOMOhepNOOynKpY9eY8Wsda5XLRln9VZqCrT77eA/2nwcvEsxOJsW8W0jDxZIjRTmYajIFD3scJBgkLPgdR8+279QfqGTcLCugiMYk90qMbjDqd8RgaXRqOMHxMVl6Nbg4wmpyFjd0Td7cYHiF4CbphNb7H8ECV5dk/PmCmVYwdaaDNnp9QofgikfEhdR+D5PCyaNvWvXOh7vpj5j0hFTyhFfX80rbZEYKGAK03lo55TZB3StkJSpREDkVo1LQq6DliwzmC+88u49byaJVW46EajlUbuF6Dniklqtt/XbpnmKuz+wVQSwMEFAACAAgAKoaxSD08L9HBAAAA5QEAABoAAAB1bml2ZXJzYWwvaTE4bl9wcmVzZXRzLnhtbJ2RsQrCMBCG9z5FuN3EbqUkdRPcHHSWmqYaaS8ll1of35SKdJGAQyD/8X0/JCd3r75jT+PJOlSQ8y0wg9o1Fm8Kzqf9pgBGocam7hwaBeiA7apM2rzAozdkArFYgaTgHsJQCjFNE7c0+NhArhtDLCauXS/i6R2K2RTDosLilvYv+zODKssYk9fRduGAVbzHtCCMvFYwOxeN3GLrQPwCGpMATKrBUAJofQJ4DAnAjytAiu+b56RHCvGjYpBitZ4qewNQSwMEFAACAAgAKoaxSJr5lmRrAAAAawAAABwAAAB1bml2ZXJzYWwvbG9jYWxfc2V0dGluZ3MueG1ss7GvyM1RKEstKs7Mz7NVMtQzUFJIzUvOT8nMS7dVCg1x07VQUiguScxLSczJz0u1VcrLV1Kwt+OyyclPTswJTi0pASosVijISaxMLQpJzQUySlL9EnOBKp/tmfJ8ya5n09qfr9ivpG/HBQBQSwMEFAACAAgARJRXRyO0Tvv7AgAAsAgAABQAAAB1bml2ZXJzYWwvcGxheWVyLnhtbK1V30/bMBB+LtL+h8jv2C0dA6oExJDQHsaE1LHtrTKJm3hN4sx2COWv39nO76VsSHtolZzv++58993Fv3rOUu+JScVFHqAFniOP5aGIeB4H6OHr7fE5urp8d+QXKd0z6fEoQGXODYCmyIuYCiUvNIDvqU4C1DNgYEZeIbmQXO+B+xS420gnS/TuaAYuuQpQonWxIqSqKswVIPJYibQ0JAqHIiOFZIrlmkni0kBeg13pv6Phl4mc6H3BVA9Z6LcHrklajmfFByTVEgsZk5P5fEF+3H1ehwnL6DHPlaZ5yJAHlZzZUj7ScHcnojJlythmvktyzbQ2SVjbzNcrvjjPPSXDADmHTcaUojFTOM1jRByWTID9bUpVUvOoAa3hVTte81q/jXnfNG62c6RzLsrHlKsEjvqQzjoJ9Mkwqp/Z61oFPTQKujVMyJPsV8kli+zrt1aM8wVyAVvF2TyxqkI4gKdbGmoh9zcAAxXVHcRt07BrGraglgO30dcdBWpuu2VUl5I1pZr5Tzxi4guVkhpZXGpZMp+MjDWWDME+cVeum9Q1xE90lp7+Q2+M36g1P9VrnbGA/9GYT0DU1oTnEXu+5eCjWQY11QyKbWxYFyk2MbucVPmY9XQ9MLkc66bARTxNZcxgDCOqKens5BCUSarAJSzlCNs7OAhOeJyk8NOTDOPTgzQZlbtJht7BQXAqwt0EtDW3ZSTjOo7E1CrIJxPrxA9LpUXGX6w8B3tGr6wOXxu55ui64O3B2fyPURzEaAZziyZWl3nq7avm8N7MqVadz6ZwloFaYR6YLgvn1cxCWYx8IralZapv+jk1+7AHHeU8NR3TXN9B76Ja8xfmVTwyX7rF0tQkYUYzAfpwvuwxQD9huwzCW9OhiFuRN3XAmNg3928r2mz5unWu64c67EMNnzirHMbN1EdQRyxFmUejHuKi+4ioFHbatWTUS9kWbrQ4AZGKIkDv4aG+88XpRXfls8VFg7V53bvALpc3rPQ64U5BpNZ1exG/3g3w+BtQSwMEFAACAAgAKoaxSLCHI/RsAQAA9wIAACkAAAB1bml2ZXJzYWwvc2tpbl9jdXN0b21pemF0aW9uX3NldHRpbmdzLnhtbI1S20okMRB99yuCPzBJKreGdiC3lnlR0QGfm+ns0qyml07EZcnHm3Z3GEdHNPVUdU6doiqnTb/GaJ9Snh7Hv30ep3gXch7jz7Q+Q6jdTQ/TfDOHFHJaHSr3Yxym5038MS21Wk25j0M/D3ZB0xqj7vUhJbVyqmbMMIok89Qr5Dy3FWvANWAr5iix7eqdxD/dOexCzKdV29UR+rFhE1OY8yYO4c8ajtlvoeMNLud+GCsvrQVbouynFseWQIxwyX2hGgAEstwRh4uUjdQEecw4hmIUBQqIcE4aUYikHGrWNaKqMN8IxCRj1BXqae1GWhtHbZHQEKLrNK8aW7rOSIwRIQSYK1xAZzCqbKgaGtRyQHBgQBRtNFGAOtuZjhXvvLAcKeoFxoUZAxgfjnvY7u25DtVvr7M/5xeCJ7/gJLp4a3XCXO3uaZ4reRsefz/0OaBxuDi/ufV3/mqrt5vrq/P/vnz18J61mLVu/am3XwBQSwMEFAACAAgAK4axSAXZichKDQAA1SEAABcAAAB1bml2ZXJzYWwvdW5pdmVyc2FsLnBuZ+2a+VdS6/rAqdNpVvNU15xLvXmuOZQnp+NAmROna6UNZk61zLxhgqhoKGLTdUiJopaWiZ6sk+KAqZm6EbBDSR5E6jig4lBxFAXBgRAVkbupzr1r3fVd3z/gLn5gb57ns9/9Ps+73+d5n/1C7rEj/jobjTZCIBAdWIBPMASyBgaBfINcvxbU7Gq6MQGeViUF+3tDKF0mk6CwJvZg4EEIpI6wafnct6C8ISEgNAkC0WVqPqtYyIrzYDs4zOfgicuRkuGjebbyAdYHWdHc6rnV9Trn9ev1U78jntz8/fe7cy7o5+8MWPOuevNPOectLV79c+3W9Tt8bm8pM1Zf+Vn69/0bVNjpLpn7IulHxafSBxc9jydtD/9UTKmUUkRSt4hSSmVL3YMsLlSNla0op5EjGYrhmqZRnDFo0lknP1nFSpDpeTOEH1EPuvyMZKjR1lRm558zhnmpPnWneIOKK41V9vV4qyjsrK/7KlBuQwdl/OFner0bvwaUmu0rCUML4ij14K1/ixN+4DdIuIvFBvB0IMdKI+0iao43AlaDxy1aoAVaoAVaoAVaoAVaoAVaoAVaoAVaoAVaoAVa8L8HUAJz9QJLs2X6HtgK02i8rTRbiuvvaPYOd/p8p9lu3PL/g4/hd/5o4HrxWz/9fvihdSk2UfbGknAJtywwH0WJUL2CKlYooSlMF7yyDzmSJXlhXnszbXmsiaGSBPFbnOI5P4xPI5SVFazM3yTLjy07/M0znmNmXq7jr0svr2SFEahhZpqmYppihBrNGGLkDHbVxIgLMKe6wxvjFw71JKW9mTMXTwTMDSVxG/VmjoSALUryljhIXEMvPgxQryhdpulKaTxP/UEvs99j9tXWMK6Xcipe4EZqGkkTjwOZi2OFSEMXqIPTsAfiFHfgvlRAgNJjhppX3grl1bw3MUMs+qRZxqd3JDYmKInGyFc/mbJbC2nzkscsGn3TMdP5A/c527PqIoDh/VzCZ4/s+jgRkHhy0wlPKQJjX+bszJjFIy+5eFBnD6eOZijieSfPksVx11ux4rDRwUj7csF++HCICRm9wjRfmbnwPXnLvpK8OdI0VtjZdlLWG8MJ68aj5EDFzDFBO1fWSpI6JRoq6uKAM32AKs2Ot4ChsxNFnm9FLyQam6rpAelTdaxBLiHudztl9cPYQJEbvdMhkHDLavg6YAOMudUOVlTje4FqfBeiKDT+bKrxs0ZhW+u5M03oNxIUqnFE+P5YetCJHeTSwl2Prp32DJEn/bNmthj/xvFpFY/Z31BRxmzlsVwYixzn55tjaX5d6eaNmwXCiO5eRwJPRrboCKlbN0ie/8s3kPfwSs9bVC4+rvuzIfGiFmmBysOHmGSU/VcTIye4ZfrIW888Txj9R3mxbSn15gZ0S36IXNbPfuzdnrNtu3H7/phWM5sDtoqN5MzpNAQ3DV+s8BIJ00jSh4hXxEWAPX9y6mrKTdprCKS5SBS+fTi23UlUkNnHaXButEsIFVrrw+z/celZiuCCPFC1HIgrd+5kjWwsjlQM4QPqN6+Vyxz339un2otoeIiLuuEqdkp8p3RNBjII0xaAQvC3ZIUOpE0enB1ZvehhdXj4x/toWXWQaUq3nbrOh7jJyLh6uHkg0RJ9yrjdKXLnIhzNHeYZwgC+g0XHB0C5FvI+LVSW+5P7l3YnVQ8ECFOTQ1YtP9e9HMQbi7bcbHhKPhAsvDbR5fvyYu+uH5LuF3FhwTzCIfhv2CPE0ECobsjfBNhd6OHmmnM8N1gKzc8+zTz7iDUYxgm9tNl2Y4nwlZO4jwmOK2cEK+OkeJqI4vKs2B/eogze2XF9Tb+D2VwplpefjGOmF+9NOo1oTTRqLNnzl3zh05I8fW8b7x5ZsH7cjWr9QFHiqxuYEoDk5nXi/n1haNbNATrvDUb6OLKQ5VHgbkdsnfttj0ROxVl/GZAEEaPicrmo77WmZ/ulQgdf4qZKna66WUzB2CNdpmvnhYujEhQGHsH7YBvjc2cf5ddXO0LSkfli4damW1ccnz4spervFy0BQ9t3ijDTFAchjQBw9CN1MbZUb44veprV0OPQyFCrpmPpCi5A/9rpHagiLOqtnUoUwgDc6F57uAKcgjoaj1tkRyFws3lRUzTS3LKMO9qKX8KUlPfE9zYD4bf45WEGDYiSDFFdj2MXD886zQ5SU8YqMlPh2BrGEiaS8AuiiVLLVck8DgtDDZi+XUctiBBrHs3cXZ43I+NC1erUFQnDYJx9JHUUAqmOIuWVKbGXKxqy9DeKkkShTD6SQVOkiA63GUG9xPaKy4vvr+u94BEgqHxERieAmTdkmtjYhHfy8A7O1EftIQcqHxVgbJHf3jVqX+p36lH17heiR2R3c6zaOkC3z/GeFSPoU5/9BWiyLndJLDO6Z6/z0OHXdxYBfdi4jmKjUSluaXJ+Sd8Ffh8ZO8nNXJGlFGEc8EVNWRv/KnueLerrAB9K6b6eOby466ZVNDa28zg74tF5n7KYzUbiVB7gTkiLTxafN7izxrVFqnKdMmpfkNZ3D7tAIOIUw0zO06yxtUv91Mc4qQUMI2nkgb4kHGNSdFR1qa9NfPxuT+oy3XyajlwY9lB2Mk+Py3yIjn2C+7gWXTbZAkZzBtD1eQGri8MVOJMUnWhs6sCk1BhyBS32MjCryhq8X4uXO370lyweEwjxC4NvHNgX2yXJTJO17SPWAuxuSwtbvZduJ77cvecY+wyhpqB2ftl1D9E2O2Zix7mKLAz33gDYz2Rfh71Fh26mkj/qfNRT3jP/7b4qMTzcRS+B+l8u9WXYe/SFMl0nJ/pzzK8+zrq5Du1FHPQrRpZTavGqgdbCNzl70KGyvmPZj/NnWV8Hz0iEIoxRxjz2EDvZofCWcX6RXgN5VtZ80Cp3LGGiOW+ioPz4qieR1dCFl3rOUOUA15kAXVmwM8MtfOB4KoYaSH62V1Vg+ngWt0NA/Tpx+JYEj99xzh5+OrISK8s1m6MtcVP6jtdeOq7veYY8lOn1aNK158Kiwdlb72ruhrpwvZzyx3YIg8iZvL19nAWFR1T56sM6lns5wmjD9iXaVEBwLR5BmrIg2mLnOqwfmqsm/Plbgh16GjxUn7r5F+GDReVUu/eMzzacPuISlaLJRmeHIzPkvfMNH/bB+xuv0vOtYkx2NyyLnbMvTXDTnxSj1//2CEA7iscHyrPqTGQlO51MtsLgekVG8EE3XfwhfNZxX+LXqXP+0fy2FnA5Hdz7O/liXIn0xRW1aIRACvqDtZdgrDYrJEnpqyCnGWAVUK8Cg8UoJf7n1DvnTWyOM9evc0rO5tsi06cOBjMTkfei0eJoMFcf1ZFFU+JH99ladrTmH/K9fQbaaP+TKlyWP0Zp24+gFlsQe+LKwsyVOVZ3wdU6Ln0Hx/HGlIw2nYGUfcxzQKzMFTISXrfO/LqJz6x0DVNdE484sCZGCLHkqNuPT6QK/swhSxnzA7FCr9mLZLwsoq7MaytvP5tx4LixCq3KsZbLQscXbYzyxf4HXGu/BC+Z1Rhuju4PjIDOrybPRhsWwIvOgNfNzRSh3BvtPCnGYkXZy39U8LxpuwF5HSHAkby1vs8toED/SckQLyozowoXeUs9eTQTwEw8yh7EJ0ixETvenxpWju0YVqIKl345xbCiov6dVWe63Kefl+rzKJ8zVmO6jOPCR6Nyau2IWFNg7EGGWjk6isvzXHe7MpKNFwGIkqcpgkVpKiOdnxyuE7HtzxvPbvu89CxdnvylcJCbG9dXkw1OqCJwYiZJ0lzvBTi2KKVUZK75L/wKe/YkXSVBNnWjhOIySJPoy6iVv9WEDo8dTfDsw50Kr0KYgmPRV7lSxMHoNRj6EHMDEj3RQVfC0NOF0cnTrOMTmhAXjz0meAFvF2GUoi/Xi8BKLY73cp8PEZbaHEi6fr4liObhkMuMp7yw35hQJVUl5td+hJIBgmauNONExdv+s3T7IVtn/ajLrO9gu+XlWOrWppUVBYPRcjAC6sDi5YaJj67iGo+Em/7pMzr8rKKk9e8GnvNbwFyzaON1fWQDEFMKrrmcGMQmE1MYRYQ4nI1lL7OgKyjqweb8ncohNC/iYZR6iSdZ65r6AqqaPNr07SoEepqmeAF6VZxWyAIkX02jw2vVUpngTI+bKzBW0rt/uDUuiItqGhKik61aKp2kb+s/tX2jd0kT/c5ZyV9DL1O00HZ82fpkE8aQZbYa8swrDgrt2MVviRt5PL4tqsAMtOlj3tT97QrNj//cwLm7pctP8BbM7qNQGunp0xoMwAeL9Pfik1EVNfvumQAkat+xE+zkmw6HwRJu7MTo+tJfMfQYykSQ0JrM3CxKNAzArchKkXqHKlCrwbq+jSSxiWeafeyXDInpyyzXEKsWe03sczTPSNXd1gBQ2tEyTdUecvf/ehsoVS/Huq/+/DpQ4ZUoYDswLvlrxHCDXn/EshCqvvgf8ZJj/8PP/zCgVOb1PMNbOS2Lo9Rwa43qdJVoV3SzIQy+oGCoaYtgpA4+0HTQV7bkj76t1nnIUa/KjXsT7L356opGD/M94kPxPnvtX1BLAwQUAAIACAArhrFIKwvAbUoAAABrAAAAGwAAAHVuaXZlcnNhbC91bml2ZXJzYWwucG5nLnhtbLOxr8jNUShLLSrOzM+zVTLUM1Cyt+PlsikoSi3LTC1XqACKGekZQICSQiUqtzwzpSQDKGRgbowQzEjNTM8osVWyMDCFC+oDzQQAUEsBAgAAFAACAAgAKoaxSBUOrShkBAAABxEAAB0AAAAAAAAAAQAAAAAAAAAAAHVuaXZlcnNhbC9jb21tb25fbWVzc2FnZXMubG5nUEsBAgAAFAACAAgAKoaxSAh+CyMpAwAAhgwAACcAAAAAAAAAAQAAAAAAnwQAAHVuaXZlcnNhbC9mbGFzaF9wdWJsaXNoaW5nX3NldHRpbmdzLnhtbFBLAQIAABQAAgAIACqGsUi1/AlkugIAAFUKAAAhAAAAAAAAAAEAAAAAAA0IAAB1bml2ZXJzYWwvZmxhc2hfc2tpbl9zZXR0aW5ncy54bWxQSwECAAAUAAIACAAqhrFIKpYPZ/4CAACXCwAAJgAAAAAAAAABAAAAAAAGCwAAdW5pdmVyc2FsL2h0bWxfcHVibGlzaGluZ19zZXR0aW5ncy54bWxQSwECAAAUAAIACAAqhrFIaHFSkZoBAAAfBgAAHwAAAAAAAAABAAAAAABIDgAAdW5pdmVyc2FsL2h0bWxfc2tpbl9zZXR0aW5ncy5qc1BLAQIAABQAAgAIACqGsUg9PC/RwQAAAOUBAAAaAAAAAAAAAAEAAAAAAB8QAAB1bml2ZXJzYWwvaTE4bl9wcmVzZXRzLnhtbFBLAQIAABQAAgAIACqGsUia+ZZkawAAAGsAAAAcAAAAAAAAAAEAAAAAABgRAAB1bml2ZXJzYWwvbG9jYWxfc2V0dGluZ3MueG1sUEsBAgAAFAACAAgARJRXRyO0Tvv7AgAAsAgAABQAAAAAAAAAAQAAAAAAvREAAHVuaXZlcnNhbC9wbGF5ZXIueG1sUEsBAgAAFAACAAgAKoaxSLCHI/RsAQAA9wIAACkAAAAAAAAAAQAAAAAA6hQAAHVuaXZlcnNhbC9za2luX2N1c3RvbWl6YXRpb25fc2V0dGluZ3MueG1sUEsBAgAAFAACAAgAK4axSAXZichKDQAA1SEAABcAAAAAAAAAAAAAAAAAnRYAAHVuaXZlcnNhbC91bml2ZXJzYWwucG5nUEsBAgAAFAACAAgAK4axSCsLwG1KAAAAawAAABsAAAAAAAAAAQAAAAAAHCQAAHVuaXZlcnNhbC91bml2ZXJzYWwucG5nLnhtbFBLBQYAAAAACwALAEkDAACfJAAAAAA="/>
  <p:tag name="ISPRING_PRESENTATION_TITLE" val="3223"/>
  <p:tag name="resource_record_key" val="{&quot;10&quot;:[50063462],&quot;65&quot;:[20234439],&quot;70&quot;:[3429751,3407020,3332383,3429749,3403782,3405745,3405161,3312130,3333762,3403294]}"/>
</p:tagLst>
</file>

<file path=ppt/theme/theme1.xml><?xml version="1.0" encoding="utf-8"?>
<a:theme xmlns:a="http://schemas.openxmlformats.org/drawingml/2006/main" name="1_Office 主题​​">
  <a:themeElements>
    <a:clrScheme name="自定义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0070C0"/>
      </a:accent2>
      <a:accent3>
        <a:srgbClr val="0070C0"/>
      </a:accent3>
      <a:accent4>
        <a:srgbClr val="0070C0"/>
      </a:accent4>
      <a:accent5>
        <a:srgbClr val="0070C0"/>
      </a:accent5>
      <a:accent6>
        <a:srgbClr val="0070C0"/>
      </a:accent6>
      <a:hlink>
        <a:srgbClr val="0070C0"/>
      </a:hlink>
      <a:folHlink>
        <a:srgbClr val="0070C0"/>
      </a:folHlink>
    </a:clrScheme>
    <a:fontScheme name="微软雅黑和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23">
      <a:dk1>
        <a:srgbClr val="000000"/>
      </a:dk1>
      <a:lt1>
        <a:srgbClr val="FFFFFF"/>
      </a:lt1>
      <a:dk2>
        <a:srgbClr val="011163"/>
      </a:dk2>
      <a:lt2>
        <a:srgbClr val="FFFFFF"/>
      </a:lt2>
      <a:accent1>
        <a:srgbClr val="4864FC"/>
      </a:accent1>
      <a:accent2>
        <a:srgbClr val="6C5EDE"/>
      </a:accent2>
      <a:accent3>
        <a:srgbClr val="9059BF"/>
      </a:accent3>
      <a:accent4>
        <a:srgbClr val="B453A1"/>
      </a:accent4>
      <a:accent5>
        <a:srgbClr val="D84E82"/>
      </a:accent5>
      <a:accent6>
        <a:srgbClr val="FC4864"/>
      </a:accent6>
      <a:hlink>
        <a:srgbClr val="0563C1"/>
      </a:hlink>
      <a:folHlink>
        <a:srgbClr val="954D72"/>
      </a:folHlink>
    </a:clrScheme>
    <a:fontScheme name="自定义 18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2136</Words>
  <Application>WPS 演示</Application>
  <PresentationFormat>全屏显示(16:9)</PresentationFormat>
  <Paragraphs>209</Paragraphs>
  <Slides>14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宋体</vt:lpstr>
      <vt:lpstr>Wingdings</vt:lpstr>
      <vt:lpstr>Calibri</vt:lpstr>
      <vt:lpstr>Impact</vt:lpstr>
      <vt:lpstr>MiSans Normal</vt:lpstr>
      <vt:lpstr>Wingdings</vt:lpstr>
      <vt:lpstr>MiSans Heavy</vt:lpstr>
      <vt:lpstr>MiSans Bold</vt:lpstr>
      <vt:lpstr>汉仪劲楷简</vt:lpstr>
      <vt:lpstr>微软雅黑</vt:lpstr>
      <vt:lpstr>Century Gothic</vt:lpstr>
      <vt:lpstr>黑体</vt:lpstr>
      <vt:lpstr>Calibri</vt:lpstr>
      <vt:lpstr>Arial Unicode MS</vt:lpstr>
      <vt:lpstr>1_Office 主题​​</vt:lpstr>
      <vt:lpstr>1_Office 主题</vt:lpstr>
      <vt:lpstr>角色三：首席产品/营销官(CPO/CMO)——产品与营销策划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整合营销传播矩阵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海伦娜</cp:lastModifiedBy>
  <cp:revision>193</cp:revision>
  <dcterms:created xsi:type="dcterms:W3CDTF">2016-03-10T07:57:00Z</dcterms:created>
  <dcterms:modified xsi:type="dcterms:W3CDTF">2025-12-18T12:28:20Z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2052-12.1.0.24031</vt:lpwstr>
  </property>
  <property fmtid="{D5CDD505-2E9C-101B-9397-08002B2CF9AE}" pid="3" name="KSOTemplateUUID">
    <vt:lpwstr>v1.0_mb_KDz5kzGc7nbI8iAKD/R5mw==</vt:lpwstr>
  </property>
  <property fmtid="{D5CDD505-2E9C-101B-9397-08002B2CF9AE}" pid="4" name="ICV">
    <vt:lpwstr>DEFB72547BF54AB78FE691A43F6DF836_13</vt:lpwstr>
  </property>
</Properties>
</file>